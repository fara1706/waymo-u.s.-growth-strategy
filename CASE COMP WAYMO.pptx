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notesMasterIdLst>
    <p:notesMasterId r:id="rId10"/>
  </p:notesMasterIdLst>
  <p:sldIdLst>
    <p:sldId id="258" r:id="rId3"/>
    <p:sldId id="256" r:id="rId4"/>
    <p:sldId id="259" r:id="rId5"/>
    <p:sldId id="257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1B29E6BB-9FE9-4593-8F7A-9D4925C930AE}">
          <p14:sldIdLst>
            <p14:sldId id="258"/>
            <p14:sldId id="256"/>
            <p14:sldId id="259"/>
            <p14:sldId id="257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C185"/>
    <a:srgbClr val="D8BC70"/>
    <a:srgbClr val="EEC912"/>
    <a:srgbClr val="EEC6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13" autoAdjust="0"/>
    <p:restoredTop sz="94660"/>
  </p:normalViewPr>
  <p:slideViewPr>
    <p:cSldViewPr snapToGrid="0">
      <p:cViewPr varScale="1">
        <p:scale>
          <a:sx n="83" d="100"/>
          <a:sy n="83" d="100"/>
        </p:scale>
        <p:origin x="519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spc="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r>
              <a:rPr lang="en-IN" sz="2400" b="1" dirty="0">
                <a:solidFill>
                  <a:srgbClr val="002060"/>
                </a:solidFill>
              </a:rPr>
              <a:t>Rider</a:t>
            </a:r>
            <a:r>
              <a:rPr lang="en-IN" sz="2400" b="1" baseline="0" dirty="0">
                <a:solidFill>
                  <a:srgbClr val="002060"/>
                </a:solidFill>
              </a:rPr>
              <a:t> Contribution Curve</a:t>
            </a:r>
            <a:endParaRPr lang="en-IN" sz="2400" b="1" dirty="0">
              <a:solidFill>
                <a:srgbClr val="00206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spc="0" baseline="0">
              <a:solidFill>
                <a:srgbClr val="002060"/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Top 10%</c:v>
                </c:pt>
                <c:pt idx="1">
                  <c:v>Next 15%</c:v>
                </c:pt>
                <c:pt idx="2">
                  <c:v>Next 25%</c:v>
                </c:pt>
                <c:pt idx="3">
                  <c:v>Bottom 50%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25</c:v>
                </c:pt>
                <c:pt idx="2">
                  <c:v>20</c:v>
                </c:pt>
                <c:pt idx="3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8D-4E20-A902-57D863F076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4485967"/>
        <c:axId val="204492207"/>
      </c:barChart>
      <c:lineChart>
        <c:grouping val="standar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4485967"/>
        <c:axId val="204492207"/>
        <c:extLst>
          <c:ext xmlns:c15="http://schemas.microsoft.com/office/drawing/2012/chart" uri="{02D57815-91ED-43cb-92C2-25804820EDAC}">
            <c15:filteredLine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  <c:pt idx="0">
                        <c:v>Column1</c:v>
                      </c:pt>
                    </c:strCache>
                  </c:strRef>
                </c:tx>
                <c:spPr>
                  <a:ln w="28575" cap="rnd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strCache>
                      <c:ptCount val="4"/>
                      <c:pt idx="0">
                        <c:v>Top 10%</c:v>
                      </c:pt>
                      <c:pt idx="1">
                        <c:v>Next 15%</c:v>
                      </c:pt>
                      <c:pt idx="2">
                        <c:v>Next 25%</c:v>
                      </c:pt>
                      <c:pt idx="3">
                        <c:v>Bottom 50%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Sheet1!$D$2:$D$5</c15:sqref>
                        </c15:formulaRef>
                      </c:ext>
                    </c:extLst>
                    <c:numCache>
                      <c:formatCode>General</c:formatCode>
                      <c:ptCount val="4"/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2-2F8D-4E20-A902-57D863F07627}"/>
                  </c:ext>
                </c:extLst>
              </c15:ser>
            </c15:filteredLineSeries>
          </c:ext>
        </c:extLst>
      </c:line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accent3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Top 10%</c:v>
                </c:pt>
                <c:pt idx="1">
                  <c:v>Next 15%</c:v>
                </c:pt>
                <c:pt idx="2">
                  <c:v>Next 25%</c:v>
                </c:pt>
                <c:pt idx="3">
                  <c:v>Bottom 50%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35</c:v>
                </c:pt>
                <c:pt idx="1">
                  <c:v>60</c:v>
                </c:pt>
                <c:pt idx="2">
                  <c:v>80</c:v>
                </c:pt>
                <c:pt idx="3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F8D-4E20-A902-57D863F076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4491247"/>
        <c:axId val="204483567"/>
      </c:lineChart>
      <c:catAx>
        <c:axId val="20448596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800" b="1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800" b="1" i="0" u="none" strike="noStrike" baseline="0" dirty="0">
                    <a:solidFill>
                      <a:srgbClr val="002060"/>
                    </a:solidFill>
                  </a:rPr>
                  <a:t>Rider cohort</a:t>
                </a:r>
                <a:endParaRPr lang="en-IN" sz="1800" b="1" dirty="0">
                  <a:solidFill>
                    <a:srgbClr val="002060"/>
                  </a:solidFill>
                </a:endParaRPr>
              </a:p>
            </c:rich>
          </c:tx>
          <c:layout>
            <c:manualLayout>
              <c:xMode val="edge"/>
              <c:yMode val="edge"/>
              <c:x val="0.40307859879103169"/>
              <c:y val="0.9090512681922333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1" i="0" u="none" strike="noStrike" kern="1200" baseline="0">
                  <a:solidFill>
                    <a:srgbClr val="002060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4492207"/>
        <c:crosses val="autoZero"/>
        <c:auto val="1"/>
        <c:lblAlgn val="ctr"/>
        <c:lblOffset val="100"/>
        <c:noMultiLvlLbl val="0"/>
      </c:catAx>
      <c:valAx>
        <c:axId val="204492207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1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800" b="1" i="0" u="none" strike="noStrike" baseline="0" dirty="0">
                    <a:solidFill>
                      <a:srgbClr val="002060"/>
                    </a:solidFill>
                  </a:rPr>
                  <a:t>% of rides</a:t>
                </a:r>
                <a:endParaRPr lang="en-IN" sz="1800" b="1" dirty="0">
                  <a:solidFill>
                    <a:srgbClr val="002060"/>
                  </a:solidFill>
                </a:endParaRPr>
              </a:p>
            </c:rich>
          </c:tx>
          <c:layout>
            <c:manualLayout>
              <c:xMode val="edge"/>
              <c:yMode val="edge"/>
              <c:x val="4.1943662725393519E-3"/>
              <c:y val="0.360979906650743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1" i="0" u="none" strike="noStrike" kern="1200" baseline="0">
                  <a:solidFill>
                    <a:srgbClr val="002060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solidFill>
            <a:schemeClr val="bg1"/>
          </a:solidFill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4485967"/>
        <c:crosses val="autoZero"/>
        <c:crossBetween val="between"/>
      </c:valAx>
      <c:valAx>
        <c:axId val="204483567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1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800" b="1" i="0" u="none" strike="noStrike" baseline="0" dirty="0">
                    <a:solidFill>
                      <a:srgbClr val="002060"/>
                    </a:solidFill>
                  </a:rPr>
                  <a:t>Cumulative %</a:t>
                </a:r>
                <a:endParaRPr lang="en-IN" sz="1800" b="1" dirty="0">
                  <a:solidFill>
                    <a:srgbClr val="002060"/>
                  </a:solidFill>
                </a:endParaRPr>
              </a:p>
            </c:rich>
          </c:tx>
          <c:layout>
            <c:manualLayout>
              <c:xMode val="edge"/>
              <c:yMode val="edge"/>
              <c:x val="0.93294248665151192"/>
              <c:y val="0.3240710432084934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1" i="0" u="none" strike="noStrike" kern="1200" baseline="0">
                  <a:solidFill>
                    <a:srgbClr val="002060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4491247"/>
        <c:crosses val="max"/>
        <c:crossBetween val="between"/>
      </c:valAx>
      <c:catAx>
        <c:axId val="20449124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4483567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D929BA1-7698-4E9F-98A6-9888F02A8873}" type="doc">
      <dgm:prSet loTypeId="urn:microsoft.com/office/officeart/2005/8/layout/cycle1" loCatId="cycle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02BC84A-38A4-4F47-9DBA-FBE4553D5BD6}">
      <dgm:prSet phldrT="[Text]" phldr="0"/>
      <dgm:spPr/>
      <dgm:t>
        <a:bodyPr/>
        <a:lstStyle/>
        <a:p>
          <a:r>
            <a:rPr lang="en-IN" b="1" dirty="0">
              <a:solidFill>
                <a:srgbClr val="002060"/>
              </a:solidFill>
            </a:rPr>
            <a:t>Cost per Mile</a:t>
          </a:r>
        </a:p>
      </dgm:t>
    </dgm:pt>
    <dgm:pt modelId="{B4F5A071-AD5C-4982-946A-A4EE65D3C87C}" type="parTrans" cxnId="{DB857DA4-445E-44DF-A1C3-60374F354449}">
      <dgm:prSet/>
      <dgm:spPr/>
      <dgm:t>
        <a:bodyPr/>
        <a:lstStyle/>
        <a:p>
          <a:endParaRPr lang="en-IN"/>
        </a:p>
      </dgm:t>
    </dgm:pt>
    <dgm:pt modelId="{9688506D-2C14-4194-AA3D-DB9A142A4CCB}" type="sibTrans" cxnId="{DB857DA4-445E-44DF-A1C3-60374F354449}">
      <dgm:prSet/>
      <dgm:spPr>
        <a:gradFill rotWithShape="0"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6"/>
            </a:gs>
            <a:gs pos="100000">
              <a:schemeClr val="accent6">
                <a:lumMod val="75000"/>
              </a:schemeClr>
            </a:gs>
          </a:gsLst>
        </a:gradFill>
      </dgm:spPr>
      <dgm:t>
        <a:bodyPr/>
        <a:lstStyle/>
        <a:p>
          <a:endParaRPr lang="en-IN"/>
        </a:p>
      </dgm:t>
    </dgm:pt>
    <dgm:pt modelId="{3BEB999C-2125-429D-81EC-FC72A0312B6B}">
      <dgm:prSet phldrT="[Text]" phldr="0"/>
      <dgm:spPr/>
      <dgm:t>
        <a:bodyPr/>
        <a:lstStyle/>
        <a:p>
          <a:r>
            <a:rPr lang="en-IN" b="1" dirty="0">
              <a:solidFill>
                <a:srgbClr val="002060"/>
              </a:solidFill>
            </a:rPr>
            <a:t>Downtime</a:t>
          </a:r>
        </a:p>
      </dgm:t>
    </dgm:pt>
    <dgm:pt modelId="{EF120C89-73B0-4B54-AD46-FB3FF359BF79}" type="parTrans" cxnId="{F5FBE7D8-F932-4B41-A3E7-6033315817B8}">
      <dgm:prSet/>
      <dgm:spPr/>
      <dgm:t>
        <a:bodyPr/>
        <a:lstStyle/>
        <a:p>
          <a:endParaRPr lang="en-IN"/>
        </a:p>
      </dgm:t>
    </dgm:pt>
    <dgm:pt modelId="{A54A698B-097A-4B31-839B-DF10B815812C}" type="sibTrans" cxnId="{F5FBE7D8-F932-4B41-A3E7-6033315817B8}">
      <dgm:prSet/>
      <dgm:spPr>
        <a:gradFill rotWithShape="0"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6"/>
            </a:gs>
            <a:gs pos="100000">
              <a:schemeClr val="accent6">
                <a:lumMod val="75000"/>
              </a:schemeClr>
            </a:gs>
          </a:gsLst>
        </a:gradFill>
      </dgm:spPr>
      <dgm:t>
        <a:bodyPr/>
        <a:lstStyle/>
        <a:p>
          <a:endParaRPr lang="en-IN"/>
        </a:p>
      </dgm:t>
    </dgm:pt>
    <dgm:pt modelId="{D7BF3AE4-DC5A-4C83-8E05-025D54CF12D7}">
      <dgm:prSet phldrT="[Text]" phldr="0"/>
      <dgm:spPr/>
      <dgm:t>
        <a:bodyPr/>
        <a:lstStyle/>
        <a:p>
          <a:r>
            <a:rPr lang="en-IN" b="1" dirty="0">
              <a:solidFill>
                <a:srgbClr val="002060"/>
              </a:solidFill>
            </a:rPr>
            <a:t>Utilization</a:t>
          </a:r>
        </a:p>
      </dgm:t>
    </dgm:pt>
    <dgm:pt modelId="{C81F3B64-16CB-4F9A-9757-B12726DD9858}" type="parTrans" cxnId="{A11BB3C6-3560-473B-A36B-953586DEE629}">
      <dgm:prSet/>
      <dgm:spPr/>
      <dgm:t>
        <a:bodyPr/>
        <a:lstStyle/>
        <a:p>
          <a:endParaRPr lang="en-IN"/>
        </a:p>
      </dgm:t>
    </dgm:pt>
    <dgm:pt modelId="{2FB2A6E6-3DF9-4DDF-B6B5-11ED09DF62B1}" type="sibTrans" cxnId="{A11BB3C6-3560-473B-A36B-953586DEE629}">
      <dgm:prSet/>
      <dgm:spPr>
        <a:gradFill rotWithShape="0"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6"/>
            </a:gs>
            <a:gs pos="100000">
              <a:schemeClr val="accent6">
                <a:lumMod val="75000"/>
              </a:schemeClr>
            </a:gs>
          </a:gsLst>
        </a:gradFill>
      </dgm:spPr>
      <dgm:t>
        <a:bodyPr/>
        <a:lstStyle/>
        <a:p>
          <a:endParaRPr lang="en-IN"/>
        </a:p>
      </dgm:t>
    </dgm:pt>
    <dgm:pt modelId="{F847190A-2B6F-4C15-9BE2-FF9CB85FE332}" type="pres">
      <dgm:prSet presAssocID="{1D929BA1-7698-4E9F-98A6-9888F02A8873}" presName="cycle" presStyleCnt="0">
        <dgm:presLayoutVars>
          <dgm:dir/>
          <dgm:resizeHandles val="exact"/>
        </dgm:presLayoutVars>
      </dgm:prSet>
      <dgm:spPr/>
    </dgm:pt>
    <dgm:pt modelId="{F3365EFB-D026-4F63-A872-0E3BFC395E5C}" type="pres">
      <dgm:prSet presAssocID="{F02BC84A-38A4-4F47-9DBA-FBE4553D5BD6}" presName="dummy" presStyleCnt="0"/>
      <dgm:spPr/>
    </dgm:pt>
    <dgm:pt modelId="{7E0C8564-8451-4BE2-B772-FE52C309F9B9}" type="pres">
      <dgm:prSet presAssocID="{F02BC84A-38A4-4F47-9DBA-FBE4553D5BD6}" presName="node" presStyleLbl="revTx" presStyleIdx="0" presStyleCnt="3" custRadScaleRad="98395" custRadScaleInc="-11300">
        <dgm:presLayoutVars>
          <dgm:bulletEnabled val="1"/>
        </dgm:presLayoutVars>
      </dgm:prSet>
      <dgm:spPr/>
    </dgm:pt>
    <dgm:pt modelId="{DB9C8563-64D5-4F1C-A766-4C21CEE1A1A1}" type="pres">
      <dgm:prSet presAssocID="{9688506D-2C14-4194-AA3D-DB9A142A4CCB}" presName="sibTrans" presStyleLbl="node1" presStyleIdx="0" presStyleCnt="3" custLinFactNeighborX="-257" custLinFactNeighborY="-7180"/>
      <dgm:spPr/>
    </dgm:pt>
    <dgm:pt modelId="{078A8018-159B-4063-B797-4DD8347DB662}" type="pres">
      <dgm:prSet presAssocID="{3BEB999C-2125-429D-81EC-FC72A0312B6B}" presName="dummy" presStyleCnt="0"/>
      <dgm:spPr/>
    </dgm:pt>
    <dgm:pt modelId="{A5696162-565A-4D82-B0B2-63C237CB576F}" type="pres">
      <dgm:prSet presAssocID="{3BEB999C-2125-429D-81EC-FC72A0312B6B}" presName="node" presStyleLbl="revTx" presStyleIdx="1" presStyleCnt="3">
        <dgm:presLayoutVars>
          <dgm:bulletEnabled val="1"/>
        </dgm:presLayoutVars>
      </dgm:prSet>
      <dgm:spPr/>
    </dgm:pt>
    <dgm:pt modelId="{73A3D9FF-F7EA-4F6A-B029-FE2439DFF922}" type="pres">
      <dgm:prSet presAssocID="{A54A698B-097A-4B31-839B-DF10B815812C}" presName="sibTrans" presStyleLbl="node1" presStyleIdx="1" presStyleCnt="3" custLinFactNeighborX="-1986" custLinFactNeighborY="-5863"/>
      <dgm:spPr/>
    </dgm:pt>
    <dgm:pt modelId="{665969BB-6D59-4956-B23D-0B75A7DF2EFB}" type="pres">
      <dgm:prSet presAssocID="{D7BF3AE4-DC5A-4C83-8E05-025D54CF12D7}" presName="dummy" presStyleCnt="0"/>
      <dgm:spPr/>
    </dgm:pt>
    <dgm:pt modelId="{4CFBD72F-C3C6-4D99-82A2-9BC352F3E126}" type="pres">
      <dgm:prSet presAssocID="{D7BF3AE4-DC5A-4C83-8E05-025D54CF12D7}" presName="node" presStyleLbl="revTx" presStyleIdx="2" presStyleCnt="3">
        <dgm:presLayoutVars>
          <dgm:bulletEnabled val="1"/>
        </dgm:presLayoutVars>
      </dgm:prSet>
      <dgm:spPr/>
    </dgm:pt>
    <dgm:pt modelId="{5B61BFFA-B087-4FE5-B8B7-F766FBDE2894}" type="pres">
      <dgm:prSet presAssocID="{2FB2A6E6-3DF9-4DDF-B6B5-11ED09DF62B1}" presName="sibTrans" presStyleLbl="node1" presStyleIdx="2" presStyleCnt="3" custLinFactNeighborX="-3684" custLinFactNeighborY="-3937"/>
      <dgm:spPr/>
    </dgm:pt>
  </dgm:ptLst>
  <dgm:cxnLst>
    <dgm:cxn modelId="{3FB03A26-2F5A-458C-AB20-0D38C6320FBA}" type="presOf" srcId="{3BEB999C-2125-429D-81EC-FC72A0312B6B}" destId="{A5696162-565A-4D82-B0B2-63C237CB576F}" srcOrd="0" destOrd="0" presId="urn:microsoft.com/office/officeart/2005/8/layout/cycle1"/>
    <dgm:cxn modelId="{E92AB73E-1B13-44EC-9DDB-2AAB7E1A38EF}" type="presOf" srcId="{A54A698B-097A-4B31-839B-DF10B815812C}" destId="{73A3D9FF-F7EA-4F6A-B029-FE2439DFF922}" srcOrd="0" destOrd="0" presId="urn:microsoft.com/office/officeart/2005/8/layout/cycle1"/>
    <dgm:cxn modelId="{DB857DA4-445E-44DF-A1C3-60374F354449}" srcId="{1D929BA1-7698-4E9F-98A6-9888F02A8873}" destId="{F02BC84A-38A4-4F47-9DBA-FBE4553D5BD6}" srcOrd="0" destOrd="0" parTransId="{B4F5A071-AD5C-4982-946A-A4EE65D3C87C}" sibTransId="{9688506D-2C14-4194-AA3D-DB9A142A4CCB}"/>
    <dgm:cxn modelId="{8F18FAA8-3A7C-4EA9-9759-F0F7FCA3B3E6}" type="presOf" srcId="{1D929BA1-7698-4E9F-98A6-9888F02A8873}" destId="{F847190A-2B6F-4C15-9BE2-FF9CB85FE332}" srcOrd="0" destOrd="0" presId="urn:microsoft.com/office/officeart/2005/8/layout/cycle1"/>
    <dgm:cxn modelId="{2AA15ABA-9D99-416C-906C-9DFDB278184B}" type="presOf" srcId="{9688506D-2C14-4194-AA3D-DB9A142A4CCB}" destId="{DB9C8563-64D5-4F1C-A766-4C21CEE1A1A1}" srcOrd="0" destOrd="0" presId="urn:microsoft.com/office/officeart/2005/8/layout/cycle1"/>
    <dgm:cxn modelId="{A11BB3C6-3560-473B-A36B-953586DEE629}" srcId="{1D929BA1-7698-4E9F-98A6-9888F02A8873}" destId="{D7BF3AE4-DC5A-4C83-8E05-025D54CF12D7}" srcOrd="2" destOrd="0" parTransId="{C81F3B64-16CB-4F9A-9757-B12726DD9858}" sibTransId="{2FB2A6E6-3DF9-4DDF-B6B5-11ED09DF62B1}"/>
    <dgm:cxn modelId="{623A20CD-17D1-4FCD-9F17-33151A1A7C33}" type="presOf" srcId="{2FB2A6E6-3DF9-4DDF-B6B5-11ED09DF62B1}" destId="{5B61BFFA-B087-4FE5-B8B7-F766FBDE2894}" srcOrd="0" destOrd="0" presId="urn:microsoft.com/office/officeart/2005/8/layout/cycle1"/>
    <dgm:cxn modelId="{F5FBE7D8-F932-4B41-A3E7-6033315817B8}" srcId="{1D929BA1-7698-4E9F-98A6-9888F02A8873}" destId="{3BEB999C-2125-429D-81EC-FC72A0312B6B}" srcOrd="1" destOrd="0" parTransId="{EF120C89-73B0-4B54-AD46-FB3FF359BF79}" sibTransId="{A54A698B-097A-4B31-839B-DF10B815812C}"/>
    <dgm:cxn modelId="{E86062E3-3C8A-441C-84C3-4CEBBF36CEDF}" type="presOf" srcId="{F02BC84A-38A4-4F47-9DBA-FBE4553D5BD6}" destId="{7E0C8564-8451-4BE2-B772-FE52C309F9B9}" srcOrd="0" destOrd="0" presId="urn:microsoft.com/office/officeart/2005/8/layout/cycle1"/>
    <dgm:cxn modelId="{5253C5F2-ACAA-45B1-BFD3-77E9585EEF50}" type="presOf" srcId="{D7BF3AE4-DC5A-4C83-8E05-025D54CF12D7}" destId="{4CFBD72F-C3C6-4D99-82A2-9BC352F3E126}" srcOrd="0" destOrd="0" presId="urn:microsoft.com/office/officeart/2005/8/layout/cycle1"/>
    <dgm:cxn modelId="{69FA5163-9A7E-4E67-B1A2-57DF8F987AB3}" type="presParOf" srcId="{F847190A-2B6F-4C15-9BE2-FF9CB85FE332}" destId="{F3365EFB-D026-4F63-A872-0E3BFC395E5C}" srcOrd="0" destOrd="0" presId="urn:microsoft.com/office/officeart/2005/8/layout/cycle1"/>
    <dgm:cxn modelId="{EEBD1B48-D2A7-485C-B248-15CB4C9CD3AE}" type="presParOf" srcId="{F847190A-2B6F-4C15-9BE2-FF9CB85FE332}" destId="{7E0C8564-8451-4BE2-B772-FE52C309F9B9}" srcOrd="1" destOrd="0" presId="urn:microsoft.com/office/officeart/2005/8/layout/cycle1"/>
    <dgm:cxn modelId="{DC775678-C9D6-4F6B-B2FF-48DE77A423E7}" type="presParOf" srcId="{F847190A-2B6F-4C15-9BE2-FF9CB85FE332}" destId="{DB9C8563-64D5-4F1C-A766-4C21CEE1A1A1}" srcOrd="2" destOrd="0" presId="urn:microsoft.com/office/officeart/2005/8/layout/cycle1"/>
    <dgm:cxn modelId="{A57BA167-9B7A-45FC-8B00-69B3DFB75CAD}" type="presParOf" srcId="{F847190A-2B6F-4C15-9BE2-FF9CB85FE332}" destId="{078A8018-159B-4063-B797-4DD8347DB662}" srcOrd="3" destOrd="0" presId="urn:microsoft.com/office/officeart/2005/8/layout/cycle1"/>
    <dgm:cxn modelId="{A15365C4-1B5D-4C24-A5B1-59F08F15A844}" type="presParOf" srcId="{F847190A-2B6F-4C15-9BE2-FF9CB85FE332}" destId="{A5696162-565A-4D82-B0B2-63C237CB576F}" srcOrd="4" destOrd="0" presId="urn:microsoft.com/office/officeart/2005/8/layout/cycle1"/>
    <dgm:cxn modelId="{7B66F0CC-2137-4127-A13F-06436E7565BD}" type="presParOf" srcId="{F847190A-2B6F-4C15-9BE2-FF9CB85FE332}" destId="{73A3D9FF-F7EA-4F6A-B029-FE2439DFF922}" srcOrd="5" destOrd="0" presId="urn:microsoft.com/office/officeart/2005/8/layout/cycle1"/>
    <dgm:cxn modelId="{4DC0E8D3-5370-420E-985D-52171E1A3224}" type="presParOf" srcId="{F847190A-2B6F-4C15-9BE2-FF9CB85FE332}" destId="{665969BB-6D59-4956-B23D-0B75A7DF2EFB}" srcOrd="6" destOrd="0" presId="urn:microsoft.com/office/officeart/2005/8/layout/cycle1"/>
    <dgm:cxn modelId="{0EF8D09C-A1A1-4855-AA4B-1535A5350DF6}" type="presParOf" srcId="{F847190A-2B6F-4C15-9BE2-FF9CB85FE332}" destId="{4CFBD72F-C3C6-4D99-82A2-9BC352F3E126}" srcOrd="7" destOrd="0" presId="urn:microsoft.com/office/officeart/2005/8/layout/cycle1"/>
    <dgm:cxn modelId="{7D74A943-D5A7-46C5-B228-909FF93DC0D2}" type="presParOf" srcId="{F847190A-2B6F-4C15-9BE2-FF9CB85FE332}" destId="{5B61BFFA-B087-4FE5-B8B7-F766FBDE2894}" srcOrd="8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0C8564-8451-4BE2-B772-FE52C309F9B9}">
      <dsp:nvSpPr>
        <dsp:cNvPr id="0" name=""/>
        <dsp:cNvSpPr/>
      </dsp:nvSpPr>
      <dsp:spPr>
        <a:xfrm>
          <a:off x="2486548" y="172186"/>
          <a:ext cx="1223909" cy="12239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 dirty="0">
              <a:solidFill>
                <a:srgbClr val="002060"/>
              </a:solidFill>
            </a:rPr>
            <a:t>Cost per Mile</a:t>
          </a:r>
        </a:p>
      </dsp:txBody>
      <dsp:txXfrm>
        <a:off x="2486548" y="172186"/>
        <a:ext cx="1223909" cy="1223909"/>
      </dsp:txXfrm>
    </dsp:sp>
    <dsp:sp modelId="{DB9C8563-64D5-4F1C-A766-4C21CEE1A1A1}">
      <dsp:nvSpPr>
        <dsp:cNvPr id="0" name=""/>
        <dsp:cNvSpPr/>
      </dsp:nvSpPr>
      <dsp:spPr>
        <a:xfrm>
          <a:off x="662129" y="-196563"/>
          <a:ext cx="2893893" cy="2893893"/>
        </a:xfrm>
        <a:prstGeom prst="circularArrow">
          <a:avLst>
            <a:gd name="adj1" fmla="val 8247"/>
            <a:gd name="adj2" fmla="val 576001"/>
            <a:gd name="adj3" fmla="val 2901434"/>
            <a:gd name="adj4" fmla="val 21420367"/>
            <a:gd name="adj5" fmla="val 9622"/>
          </a:avLst>
        </a:prstGeom>
        <a:gradFill rotWithShape="0"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6"/>
            </a:gs>
            <a:gs pos="100000">
              <a:schemeClr val="accent6">
                <a:lumMod val="75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5696162-565A-4D82-B0B2-63C237CB576F}">
      <dsp:nvSpPr>
        <dsp:cNvPr id="0" name=""/>
        <dsp:cNvSpPr/>
      </dsp:nvSpPr>
      <dsp:spPr>
        <a:xfrm>
          <a:off x="1523110" y="2023229"/>
          <a:ext cx="1223909" cy="12239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 dirty="0">
              <a:solidFill>
                <a:srgbClr val="002060"/>
              </a:solidFill>
            </a:rPr>
            <a:t>Downtime</a:t>
          </a:r>
        </a:p>
      </dsp:txBody>
      <dsp:txXfrm>
        <a:off x="1523110" y="2023229"/>
        <a:ext cx="1223909" cy="1223909"/>
      </dsp:txXfrm>
    </dsp:sp>
    <dsp:sp modelId="{73A3D9FF-F7EA-4F6A-B029-FE2439DFF922}">
      <dsp:nvSpPr>
        <dsp:cNvPr id="0" name=""/>
        <dsp:cNvSpPr/>
      </dsp:nvSpPr>
      <dsp:spPr>
        <a:xfrm>
          <a:off x="630645" y="-169827"/>
          <a:ext cx="2893893" cy="2893893"/>
        </a:xfrm>
        <a:prstGeom prst="circularArrow">
          <a:avLst>
            <a:gd name="adj1" fmla="val 8247"/>
            <a:gd name="adj2" fmla="val 576001"/>
            <a:gd name="adj3" fmla="val 10172631"/>
            <a:gd name="adj4" fmla="val 7259614"/>
            <a:gd name="adj5" fmla="val 9622"/>
          </a:avLst>
        </a:prstGeom>
        <a:gradFill rotWithShape="0"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6"/>
            </a:gs>
            <a:gs pos="100000">
              <a:schemeClr val="accent6">
                <a:lumMod val="75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CFBD72F-C3C6-4D99-82A2-9BC352F3E126}">
      <dsp:nvSpPr>
        <dsp:cNvPr id="0" name=""/>
        <dsp:cNvSpPr/>
      </dsp:nvSpPr>
      <dsp:spPr>
        <a:xfrm>
          <a:off x="493929" y="240636"/>
          <a:ext cx="1223909" cy="12239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 dirty="0">
              <a:solidFill>
                <a:srgbClr val="002060"/>
              </a:solidFill>
            </a:rPr>
            <a:t>Utilization</a:t>
          </a:r>
        </a:p>
      </dsp:txBody>
      <dsp:txXfrm>
        <a:off x="493929" y="240636"/>
        <a:ext cx="1223909" cy="1223909"/>
      </dsp:txXfrm>
    </dsp:sp>
    <dsp:sp modelId="{5B61BFFA-B087-4FE5-B8B7-F766FBDE2894}">
      <dsp:nvSpPr>
        <dsp:cNvPr id="0" name=""/>
        <dsp:cNvSpPr/>
      </dsp:nvSpPr>
      <dsp:spPr>
        <a:xfrm>
          <a:off x="552290" y="-103569"/>
          <a:ext cx="2893893" cy="2893893"/>
        </a:xfrm>
        <a:prstGeom prst="circularArrow">
          <a:avLst>
            <a:gd name="adj1" fmla="val 8247"/>
            <a:gd name="adj2" fmla="val 576001"/>
            <a:gd name="adj3" fmla="val 16745035"/>
            <a:gd name="adj4" fmla="val 15056615"/>
            <a:gd name="adj5" fmla="val 9622"/>
          </a:avLst>
        </a:prstGeom>
        <a:gradFill rotWithShape="0"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6"/>
            </a:gs>
            <a:gs pos="100000">
              <a:schemeClr val="accent6">
                <a:lumMod val="75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2A2D55-71CA-4577-9D5D-F78E6234D0E3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EB63EF-2B94-4D78-A279-656281818E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1880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E818A5-1181-45F9-A5E1-C16EED35470D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A7CB85-9622-4C99-B2AB-A289FCE0E5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342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E818A5-1181-45F9-A5E1-C16EED35470D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A7CB85-9622-4C99-B2AB-A289FCE0E5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9654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E818A5-1181-45F9-A5E1-C16EED35470D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A7CB85-9622-4C99-B2AB-A289FCE0E5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2472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E818A5-1181-45F9-A5E1-C16EED35470D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A7CB85-9622-4C99-B2AB-A289FCE0E5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3089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E818A5-1181-45F9-A5E1-C16EED35470D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A7CB85-9622-4C99-B2AB-A289FCE0E5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5918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E818A5-1181-45F9-A5E1-C16EED35470D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A7CB85-9622-4C99-B2AB-A289FCE0E5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489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E818A5-1181-45F9-A5E1-C16EED35470D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A7CB85-9622-4C99-B2AB-A289FCE0E5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042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E818A5-1181-45F9-A5E1-C16EED35470D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A7CB85-9622-4C99-B2AB-A289FCE0E5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1398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E818A5-1181-45F9-A5E1-C16EED35470D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A7CB85-9622-4C99-B2AB-A289FCE0E5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6815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E818A5-1181-45F9-A5E1-C16EED35470D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A7CB85-9622-4C99-B2AB-A289FCE0E5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3770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E818A5-1181-45F9-A5E1-C16EED35470D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A7CB85-9622-4C99-B2AB-A289FCE0E5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34047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E818A5-1181-45F9-A5E1-C16EED35470D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A7CB85-9622-4C99-B2AB-A289FCE0E5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06479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E818A5-1181-45F9-A5E1-C16EED35470D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A7CB85-9622-4C99-B2AB-A289FCE0E5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41129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E818A5-1181-45F9-A5E1-C16EED35470D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A7CB85-9622-4C99-B2AB-A289FCE0E5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66508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E818A5-1181-45F9-A5E1-C16EED35470D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A7CB85-9622-4C99-B2AB-A289FCE0E5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47035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E818A5-1181-45F9-A5E1-C16EED35470D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A7CB85-9622-4C99-B2AB-A289FCE0E5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00561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E818A5-1181-45F9-A5E1-C16EED35470D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A7CB85-9622-4C99-B2AB-A289FCE0E5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76302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E818A5-1181-45F9-A5E1-C16EED35470D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A7CB85-9622-4C99-B2AB-A289FCE0E5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88253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E818A5-1181-45F9-A5E1-C16EED35470D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A7CB85-9622-4C99-B2AB-A289FCE0E5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18574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E818A5-1181-45F9-A5E1-C16EED35470D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A7CB85-9622-4C99-B2AB-A289FCE0E5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41935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E818A5-1181-45F9-A5E1-C16EED35470D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A7CB85-9622-4C99-B2AB-A289FCE0E5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68103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E818A5-1181-45F9-A5E1-C16EED35470D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A7CB85-9622-4C99-B2AB-A289FCE0E5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20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0548" y="136525"/>
            <a:ext cx="9249582" cy="4766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74210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0548" y="136525"/>
            <a:ext cx="9249582" cy="4766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505AF7-5E0B-0055-E3D8-E4D5631D4BB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7345" y="70674"/>
            <a:ext cx="915545" cy="610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89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loitte.com/us/en/insights/industry/government-public-sector-services/autonomous-vehicles-deployment-in-cities.html" TargetMode="External"/><Relationship Id="rId7" Type="http://schemas.openxmlformats.org/officeDocument/2006/relationships/image" Target="../media/image8.png"/><Relationship Id="rId2" Type="http://schemas.openxmlformats.org/officeDocument/2006/relationships/hyperlink" Target="https://www.mckinsey.com/features/mckinsey-center-for-future-mobility/our-insights/future-of-autonomous-vehicles-industry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hyperlink" Target="https://www.govtech.com/fs/the-cities-where-autonomous-vehicles-would-be-most-practical.html#data" TargetMode="External"/><Relationship Id="rId4" Type="http://schemas.openxmlformats.org/officeDocument/2006/relationships/hyperlink" Target="https://www.thedriverlesscommute.com/wp-content/uploads/2025/10/Dentons-Global-Guide-to-Autonomous-Vehicles-2025.pdf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ckinsey.com/features/mckinsey-center-for-future-mobility/our-insights/future-of-autonomous-vehicles-industry" TargetMode="Externa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newsroom.aaa.com/2025/02/aaa-fear-in-self-driving-vehicles-persists/" TargetMode="External"/><Relationship Id="rId5" Type="http://schemas.openxmlformats.org/officeDocument/2006/relationships/hyperlink" Target="https://www.nature.com/articles/s41599-025-05600-6" TargetMode="External"/><Relationship Id="rId4" Type="http://schemas.openxmlformats.org/officeDocument/2006/relationships/hyperlink" Target="https://www.mckinsey.com/industries/automotive-and-assembly/our-insights/the-future-of-mobility-mobility-evolves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hyperlink" Target="https://www.glassdoor.com.mx/Entrevista/ops-associate-preguntas-entrevistas-SRCH_KO0,13.htm" TargetMode="External"/><Relationship Id="rId7" Type="http://schemas.openxmlformats.org/officeDocument/2006/relationships/hyperlink" Target="https://ja.wikipedia.org/wiki/Zoox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11" Type="http://schemas.openxmlformats.org/officeDocument/2006/relationships/hyperlink" Target="https://www.dmv.ca.gov/portal/vehicle-industry-services/autonomous-vehicles/" TargetMode="External"/><Relationship Id="rId5" Type="http://schemas.openxmlformats.org/officeDocument/2006/relationships/hyperlink" Target="https://en.wikipedia.org/wiki/Cruise_(autonomous_vehicle)" TargetMode="External"/><Relationship Id="rId10" Type="http://schemas.openxmlformats.org/officeDocument/2006/relationships/hyperlink" Target="https://www.reuters.com/" TargetMode="External"/><Relationship Id="rId4" Type="http://schemas.openxmlformats.org/officeDocument/2006/relationships/image" Target="../media/image10.png"/><Relationship Id="rId9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reports.weforum.org/docs/WEF_Autonomous_Vehicles_2025.pdf" TargetMode="External"/><Relationship Id="rId3" Type="http://schemas.openxmlformats.org/officeDocument/2006/relationships/diagramLayout" Target="../diagrams/layout1.xml"/><Relationship Id="rId7" Type="http://schemas.openxmlformats.org/officeDocument/2006/relationships/hyperlink" Target="https://www.mckinsey.com/features/mckinsey-center-for-future-mobility/our-insights/getting-on-board-with-shared-autonomous-mobility#/" TargetMode="Externa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hyperlink" Target="https://www.adlittle.com/sites/default/files/2025-03/ADL%20Autonomous%20mobility%20journal%205%202025.pdf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E6EA4-1724-1439-16B8-8B46E2A7E8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68" y="4260634"/>
            <a:ext cx="2674476" cy="587196"/>
          </a:xfrm>
          <a:solidFill>
            <a:schemeClr val="tx1"/>
          </a:solidFill>
        </p:spPr>
        <p:txBody>
          <a:bodyPr/>
          <a:lstStyle/>
          <a:p>
            <a:r>
              <a:rPr lang="en-IN" sz="3600" dirty="0">
                <a:solidFill>
                  <a:schemeClr val="bg1"/>
                </a:solidFill>
              </a:rPr>
              <a:t>Team No: 67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7CCE655-15CD-C1BD-0CBD-6A0B4987E85A}"/>
              </a:ext>
            </a:extLst>
          </p:cNvPr>
          <p:cNvSpPr txBox="1">
            <a:spLocks/>
          </p:cNvSpPr>
          <p:nvPr/>
        </p:nvSpPr>
        <p:spPr>
          <a:xfrm>
            <a:off x="1524000" y="517585"/>
            <a:ext cx="9144000" cy="14482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800" dirty="0">
                <a:latin typeface="+mn-lt"/>
              </a:rPr>
              <a:t>Case Competition</a:t>
            </a:r>
          </a:p>
          <a:p>
            <a:r>
              <a:rPr lang="en-IN" sz="4800" dirty="0">
                <a:latin typeface="+mn-lt"/>
              </a:rPr>
              <a:t>World Cup 2025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7816262-8BC2-9E07-5CD7-34A34EE00FE6}"/>
              </a:ext>
            </a:extLst>
          </p:cNvPr>
          <p:cNvSpPr txBox="1">
            <a:spLocks/>
          </p:cNvSpPr>
          <p:nvPr/>
        </p:nvSpPr>
        <p:spPr>
          <a:xfrm>
            <a:off x="1160251" y="3117013"/>
            <a:ext cx="9871495" cy="63071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36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642567B-5828-7772-90FE-CC2F1A4C8FAC}"/>
              </a:ext>
            </a:extLst>
          </p:cNvPr>
          <p:cNvSpPr/>
          <p:nvPr/>
        </p:nvSpPr>
        <p:spPr>
          <a:xfrm>
            <a:off x="3143235" y="4260634"/>
            <a:ext cx="8573697" cy="58719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" name="Content Placeholder 4">
            <a:extLst>
              <a:ext uri="{FF2B5EF4-FFF2-40B4-BE49-F238E27FC236}">
                <a16:creationId xmlns:a16="http://schemas.microsoft.com/office/drawing/2014/main" id="{879D08BF-096B-C330-70F6-A01EABF59D7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84" t="7990" r="27391" b="33230"/>
          <a:stretch>
            <a:fillRect/>
          </a:stretch>
        </p:blipFill>
        <p:spPr>
          <a:xfrm>
            <a:off x="9686857" y="3695121"/>
            <a:ext cx="1513282" cy="1508400"/>
          </a:xfrm>
          <a:prstGeom prst="ellipse">
            <a:avLst/>
          </a:prstGeom>
          <a:ln w="19050">
            <a:solidFill>
              <a:schemeClr val="tx1"/>
            </a:solidFill>
          </a:ln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85FC3C44-3383-A7D8-DAC3-B71A04E4235A}"/>
              </a:ext>
            </a:extLst>
          </p:cNvPr>
          <p:cNvGrpSpPr/>
          <p:nvPr/>
        </p:nvGrpSpPr>
        <p:grpSpPr>
          <a:xfrm>
            <a:off x="2224455" y="2350564"/>
            <a:ext cx="9144000" cy="809968"/>
            <a:chOff x="1579293" y="2125212"/>
            <a:chExt cx="9144000" cy="809968"/>
          </a:xfrm>
        </p:grpSpPr>
        <p:sp>
          <p:nvSpPr>
            <p:cNvPr id="16" name="Title 1">
              <a:extLst>
                <a:ext uri="{FF2B5EF4-FFF2-40B4-BE49-F238E27FC236}">
                  <a16:creationId xmlns:a16="http://schemas.microsoft.com/office/drawing/2014/main" id="{CF9BFC14-C2EE-8C6B-3A3C-835A25EDE857}"/>
                </a:ext>
              </a:extLst>
            </p:cNvPr>
            <p:cNvSpPr txBox="1">
              <a:spLocks/>
            </p:cNvSpPr>
            <p:nvPr/>
          </p:nvSpPr>
          <p:spPr>
            <a:xfrm>
              <a:off x="1579293" y="2125212"/>
              <a:ext cx="9144000" cy="747624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b="1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4400" dirty="0"/>
                <a:t>Waymo U.S. Growth Strategy</a:t>
              </a: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D833C9F6-A564-6EF2-51DE-125F225162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091" t="10818" r="18916" b="33988"/>
            <a:stretch>
              <a:fillRect/>
            </a:stretch>
          </p:blipFill>
          <p:spPr>
            <a:xfrm>
              <a:off x="1579293" y="2147668"/>
              <a:ext cx="1305374" cy="787512"/>
            </a:xfrm>
            <a:prstGeom prst="rect">
              <a:avLst/>
            </a:prstGeom>
            <a:solidFill>
              <a:schemeClr val="bg1"/>
            </a:solidFill>
          </p:spPr>
        </p:pic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4EC9B68A-ADBB-EA68-BB55-D8502139E2A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58" t="44473" r="39210" b="41199"/>
          <a:stretch>
            <a:fillRect/>
          </a:stretch>
        </p:blipFill>
        <p:spPr>
          <a:xfrm>
            <a:off x="5664607" y="3695121"/>
            <a:ext cx="1508005" cy="1508400"/>
          </a:xfrm>
          <a:prstGeom prst="ellipse">
            <a:avLst/>
          </a:prstGeom>
          <a:ln w="19050">
            <a:solidFill>
              <a:schemeClr val="tx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9EE6475-6A54-E1DE-F443-8FAA0F68E1D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37" t="21115" r="23481" b="38376"/>
          <a:stretch>
            <a:fillRect/>
          </a:stretch>
        </p:blipFill>
        <p:spPr>
          <a:xfrm>
            <a:off x="3649351" y="3780188"/>
            <a:ext cx="1508864" cy="1508862"/>
          </a:xfrm>
          <a:prstGeom prst="ellipse">
            <a:avLst/>
          </a:prstGeom>
          <a:ln w="19050">
            <a:solidFill>
              <a:schemeClr val="tx1"/>
            </a:solidFill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BEB25BD-2466-67FD-8ECB-A8C74B09D2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28136"/>
            <a:ext cx="3031184" cy="1024558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E365C09A-69DF-E0F1-68B1-D0D330476A6E}"/>
              </a:ext>
            </a:extLst>
          </p:cNvPr>
          <p:cNvSpPr txBox="1"/>
          <p:nvPr/>
        </p:nvSpPr>
        <p:spPr>
          <a:xfrm>
            <a:off x="3598318" y="5388951"/>
            <a:ext cx="1508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Farhat Shaik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9117135-D7D8-BA98-7C2F-CFB3BDACDE36}"/>
              </a:ext>
            </a:extLst>
          </p:cNvPr>
          <p:cNvSpPr txBox="1"/>
          <p:nvPr/>
        </p:nvSpPr>
        <p:spPr>
          <a:xfrm>
            <a:off x="5663748" y="5250451"/>
            <a:ext cx="1508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Sarath Pandranki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1542B25-3C59-1832-E79D-67A587052768}"/>
              </a:ext>
            </a:extLst>
          </p:cNvPr>
          <p:cNvSpPr txBox="1"/>
          <p:nvPr/>
        </p:nvSpPr>
        <p:spPr>
          <a:xfrm>
            <a:off x="9682808" y="5289049"/>
            <a:ext cx="1508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Samith Konkyana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6AFBD06-6CC3-B572-436F-27C468214CC9}"/>
              </a:ext>
            </a:extLst>
          </p:cNvPr>
          <p:cNvSpPr txBox="1"/>
          <p:nvPr/>
        </p:nvSpPr>
        <p:spPr>
          <a:xfrm>
            <a:off x="7673278" y="5289050"/>
            <a:ext cx="1508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Seetham Naidu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032F3E-5EB2-EB00-F027-5A1008C929D4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42" t="16947" r="7098" b="24441"/>
          <a:stretch>
            <a:fillRect/>
          </a:stretch>
        </p:blipFill>
        <p:spPr>
          <a:xfrm>
            <a:off x="7673278" y="3695121"/>
            <a:ext cx="1508400" cy="1508400"/>
          </a:xfrm>
          <a:prstGeom prst="ellipse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99372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84684-4F2D-8AC9-EED5-BD281040B0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9381" y="177654"/>
            <a:ext cx="9144000" cy="501695"/>
          </a:xfrm>
        </p:spPr>
        <p:txBody>
          <a:bodyPr>
            <a:noAutofit/>
          </a:bodyPr>
          <a:lstStyle/>
          <a:p>
            <a:pPr algn="l"/>
            <a:r>
              <a:rPr lang="en-IN" sz="3000" b="1" dirty="0">
                <a:solidFill>
                  <a:srgbClr val="002060"/>
                </a:solidFill>
                <a:latin typeface="+mn-lt"/>
              </a:rPr>
              <a:t>EXECUTIVE SUMMARY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23AFBEE-2BAA-DAEF-3230-5AD84F94D4F7}"/>
              </a:ext>
            </a:extLst>
          </p:cNvPr>
          <p:cNvCxnSpPr>
            <a:cxnSpLocks/>
          </p:cNvCxnSpPr>
          <p:nvPr/>
        </p:nvCxnSpPr>
        <p:spPr>
          <a:xfrm>
            <a:off x="914400" y="687026"/>
            <a:ext cx="11277600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8A80B504-B215-45F9-BC64-4BB211E050EA}"/>
              </a:ext>
            </a:extLst>
          </p:cNvPr>
          <p:cNvSpPr/>
          <p:nvPr/>
        </p:nvSpPr>
        <p:spPr>
          <a:xfrm>
            <a:off x="0" y="6423804"/>
            <a:ext cx="2034000" cy="37502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700" b="1" dirty="0"/>
              <a:t>Executive Summary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A874174-7EB8-7C0A-0917-1ADEAB8C8162}"/>
              </a:ext>
            </a:extLst>
          </p:cNvPr>
          <p:cNvSpPr/>
          <p:nvPr/>
        </p:nvSpPr>
        <p:spPr>
          <a:xfrm>
            <a:off x="2034000" y="6423804"/>
            <a:ext cx="2034000" cy="375029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52000">
                <a:schemeClr val="accent1">
                  <a:lumMod val="60000"/>
                  <a:lumOff val="40000"/>
                </a:schemeClr>
              </a:gs>
              <a:gs pos="74000">
                <a:srgbClr val="5F80BA"/>
              </a:gs>
              <a:gs pos="54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700" b="1" dirty="0"/>
              <a:t>Market Analysis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294CA49-E05A-7914-DBA0-7E0806CF3EAB}"/>
              </a:ext>
            </a:extLst>
          </p:cNvPr>
          <p:cNvSpPr/>
          <p:nvPr/>
        </p:nvSpPr>
        <p:spPr>
          <a:xfrm>
            <a:off x="4068000" y="6423804"/>
            <a:ext cx="2034000" cy="375029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52000">
                <a:schemeClr val="accent1">
                  <a:lumMod val="60000"/>
                  <a:lumOff val="40000"/>
                </a:schemeClr>
              </a:gs>
              <a:gs pos="74000">
                <a:srgbClr val="5F80BA"/>
              </a:gs>
              <a:gs pos="54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700" b="1" dirty="0"/>
              <a:t>Customer Analysis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A2CCFCC-41F1-1D68-CDB9-719B39783F81}"/>
              </a:ext>
            </a:extLst>
          </p:cNvPr>
          <p:cNvSpPr/>
          <p:nvPr/>
        </p:nvSpPr>
        <p:spPr>
          <a:xfrm>
            <a:off x="6102000" y="6423804"/>
            <a:ext cx="2127068" cy="375029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52000">
                <a:schemeClr val="accent1">
                  <a:lumMod val="60000"/>
                  <a:lumOff val="40000"/>
                </a:schemeClr>
              </a:gs>
              <a:gs pos="74000">
                <a:srgbClr val="5F80BA"/>
              </a:gs>
              <a:gs pos="54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700" b="1" dirty="0"/>
              <a:t>Competitive Analysis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CCB149A-0EED-6BC3-881D-AFA274711FD1}"/>
              </a:ext>
            </a:extLst>
          </p:cNvPr>
          <p:cNvSpPr/>
          <p:nvPr/>
        </p:nvSpPr>
        <p:spPr>
          <a:xfrm>
            <a:off x="8229068" y="6423804"/>
            <a:ext cx="2127068" cy="375029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52000">
                <a:schemeClr val="accent1">
                  <a:lumMod val="60000"/>
                  <a:lumOff val="40000"/>
                </a:schemeClr>
              </a:gs>
              <a:gs pos="74000">
                <a:srgbClr val="5F80BA"/>
              </a:gs>
              <a:gs pos="54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700" b="1" dirty="0"/>
              <a:t>Company Capabilities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F56C060-16AF-1B53-19C9-F9886A045DCF}"/>
              </a:ext>
            </a:extLst>
          </p:cNvPr>
          <p:cNvSpPr/>
          <p:nvPr/>
        </p:nvSpPr>
        <p:spPr>
          <a:xfrm>
            <a:off x="10356136" y="6423804"/>
            <a:ext cx="1847863" cy="375029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52000">
                <a:schemeClr val="accent1">
                  <a:lumMod val="60000"/>
                  <a:lumOff val="40000"/>
                </a:schemeClr>
              </a:gs>
              <a:gs pos="74000">
                <a:srgbClr val="5F80BA"/>
              </a:gs>
              <a:gs pos="54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700" b="1" dirty="0"/>
              <a:t>Next Steps</a:t>
            </a: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C53D40D4-7C37-13FD-E2BE-34FB291BA970}"/>
              </a:ext>
            </a:extLst>
          </p:cNvPr>
          <p:cNvGrpSpPr/>
          <p:nvPr/>
        </p:nvGrpSpPr>
        <p:grpSpPr>
          <a:xfrm>
            <a:off x="333556" y="1120491"/>
            <a:ext cx="7114076" cy="4306469"/>
            <a:chOff x="333555" y="1434775"/>
            <a:chExt cx="7188838" cy="4721832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0088FE8F-B59E-073F-EBA9-C91DBD46FD37}"/>
                </a:ext>
              </a:extLst>
            </p:cNvPr>
            <p:cNvSpPr txBox="1"/>
            <p:nvPr/>
          </p:nvSpPr>
          <p:spPr>
            <a:xfrm>
              <a:off x="333555" y="1434791"/>
              <a:ext cx="2207846" cy="720000"/>
            </a:xfrm>
            <a:prstGeom prst="rect">
              <a:avLst/>
            </a:prstGeom>
            <a:solidFill>
              <a:srgbClr val="002060"/>
            </a:solidFill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IN" dirty="0">
                  <a:solidFill>
                    <a:schemeClr val="bg1"/>
                  </a:solidFill>
                </a:rPr>
                <a:t>Recommendation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CE4477D1-47C0-DC5D-7CC8-D923E6A6427C}"/>
                </a:ext>
              </a:extLst>
            </p:cNvPr>
            <p:cNvSpPr txBox="1"/>
            <p:nvPr/>
          </p:nvSpPr>
          <p:spPr>
            <a:xfrm>
              <a:off x="333555" y="2223184"/>
              <a:ext cx="2207846" cy="720000"/>
            </a:xfrm>
            <a:prstGeom prst="rect">
              <a:avLst/>
            </a:prstGeom>
            <a:solidFill>
              <a:srgbClr val="002060"/>
            </a:solidFill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IN" dirty="0">
                  <a:solidFill>
                    <a:schemeClr val="bg1"/>
                  </a:solidFill>
                </a:rPr>
                <a:t>Market Analysis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3A86C926-69CF-CA4F-FCCD-1B5F011AEC41}"/>
                </a:ext>
              </a:extLst>
            </p:cNvPr>
            <p:cNvSpPr txBox="1"/>
            <p:nvPr/>
          </p:nvSpPr>
          <p:spPr>
            <a:xfrm>
              <a:off x="333555" y="3011577"/>
              <a:ext cx="2207846" cy="720000"/>
            </a:xfrm>
            <a:prstGeom prst="rect">
              <a:avLst/>
            </a:prstGeom>
            <a:solidFill>
              <a:srgbClr val="002060"/>
            </a:solidFill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IN" dirty="0">
                  <a:solidFill>
                    <a:schemeClr val="bg1"/>
                  </a:solidFill>
                </a:rPr>
                <a:t>Customer Analysis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65F43395-C085-3356-79FA-C773CD4E7753}"/>
                </a:ext>
              </a:extLst>
            </p:cNvPr>
            <p:cNvSpPr txBox="1"/>
            <p:nvPr/>
          </p:nvSpPr>
          <p:spPr>
            <a:xfrm>
              <a:off x="333555" y="3822014"/>
              <a:ext cx="2207846" cy="720000"/>
            </a:xfrm>
            <a:prstGeom prst="rect">
              <a:avLst/>
            </a:prstGeom>
            <a:solidFill>
              <a:srgbClr val="002060"/>
            </a:solidFill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IN" dirty="0">
                  <a:solidFill>
                    <a:schemeClr val="bg1"/>
                  </a:solidFill>
                </a:rPr>
                <a:t>Competitive Analysis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519384C-A9B6-228C-812A-1FE5AAB06BE5}"/>
                </a:ext>
              </a:extLst>
            </p:cNvPr>
            <p:cNvSpPr txBox="1"/>
            <p:nvPr/>
          </p:nvSpPr>
          <p:spPr>
            <a:xfrm>
              <a:off x="333555" y="4626170"/>
              <a:ext cx="2207846" cy="720000"/>
            </a:xfrm>
            <a:prstGeom prst="rect">
              <a:avLst/>
            </a:prstGeom>
            <a:solidFill>
              <a:srgbClr val="002060"/>
            </a:solidFill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IN" dirty="0">
                  <a:solidFill>
                    <a:schemeClr val="bg1"/>
                  </a:solidFill>
                </a:rPr>
                <a:t>Company Capabilities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AF2E1209-D12A-8ACC-BA62-C0AB2BFEB335}"/>
                </a:ext>
              </a:extLst>
            </p:cNvPr>
            <p:cNvSpPr txBox="1"/>
            <p:nvPr/>
          </p:nvSpPr>
          <p:spPr>
            <a:xfrm>
              <a:off x="333555" y="5436607"/>
              <a:ext cx="2207846" cy="720000"/>
            </a:xfrm>
            <a:prstGeom prst="rect">
              <a:avLst/>
            </a:prstGeom>
            <a:solidFill>
              <a:srgbClr val="002060"/>
            </a:solidFill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IN" dirty="0">
                  <a:solidFill>
                    <a:schemeClr val="bg1"/>
                  </a:solidFill>
                </a:rPr>
                <a:t>Next Steps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D88C48F8-5308-C8A7-A2FE-F64B39C21D64}"/>
                </a:ext>
              </a:extLst>
            </p:cNvPr>
            <p:cNvSpPr txBox="1"/>
            <p:nvPr/>
          </p:nvSpPr>
          <p:spPr>
            <a:xfrm>
              <a:off x="2648607" y="1434775"/>
              <a:ext cx="4873786" cy="71999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noAutofit/>
            </a:bodyPr>
            <a:lstStyle/>
            <a:p>
              <a:r>
                <a:rPr lang="en-US" dirty="0">
                  <a:solidFill>
                    <a:srgbClr val="002060"/>
                  </a:solidFill>
                </a:rPr>
                <a:t>Depth-first expansion focused on dense metro cores before geographic breadth</a:t>
              </a:r>
              <a:endParaRPr lang="en-IN" dirty="0">
                <a:solidFill>
                  <a:srgbClr val="002060"/>
                </a:solidFill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6E6BF99C-299B-465B-3BE0-BC8B3350047D}"/>
                </a:ext>
              </a:extLst>
            </p:cNvPr>
            <p:cNvSpPr txBox="1"/>
            <p:nvPr/>
          </p:nvSpPr>
          <p:spPr>
            <a:xfrm>
              <a:off x="2648606" y="2223185"/>
              <a:ext cx="4873786" cy="71999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noAutofit/>
            </a:bodyPr>
            <a:lstStyle/>
            <a:p>
              <a:r>
                <a:rPr lang="en-US" dirty="0">
                  <a:solidFill>
                    <a:srgbClr val="002060"/>
                  </a:solidFill>
                </a:rPr>
                <a:t>~50% of economically viable U.S. ride demand is concentrated in dense urban cores</a:t>
              </a:r>
              <a:endParaRPr lang="en-IN" dirty="0">
                <a:solidFill>
                  <a:srgbClr val="002060"/>
                </a:solidFill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A7FA3561-8E15-5C79-E0A4-96135B51644D}"/>
                </a:ext>
              </a:extLst>
            </p:cNvPr>
            <p:cNvSpPr txBox="1"/>
            <p:nvPr/>
          </p:nvSpPr>
          <p:spPr>
            <a:xfrm>
              <a:off x="2648605" y="3011578"/>
              <a:ext cx="4873786" cy="71999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noAutofit/>
            </a:bodyPr>
            <a:lstStyle/>
            <a:p>
              <a:r>
                <a:rPr lang="en-US" dirty="0">
                  <a:solidFill>
                    <a:srgbClr val="002060"/>
                  </a:solidFill>
                </a:rPr>
                <a:t>Top ~25% of high-frequency riders generate ~60% of total rides, enabling utilization-driven growth</a:t>
              </a:r>
              <a:endParaRPr lang="en-IN" dirty="0">
                <a:solidFill>
                  <a:srgbClr val="002060"/>
                </a:solidFill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9AB13BEF-7828-5854-320B-7026C59A39EF}"/>
                </a:ext>
              </a:extLst>
            </p:cNvPr>
            <p:cNvSpPr txBox="1"/>
            <p:nvPr/>
          </p:nvSpPr>
          <p:spPr>
            <a:xfrm>
              <a:off x="2648604" y="3822015"/>
              <a:ext cx="4873786" cy="71999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noAutofit/>
            </a:bodyPr>
            <a:lstStyle/>
            <a:p>
              <a:r>
                <a:rPr lang="en-US" dirty="0">
                  <a:solidFill>
                    <a:srgbClr val="002060"/>
                  </a:solidFill>
                </a:rPr>
                <a:t>Waymo is the only scaled, regulator-trusted robotaxi operator in the U.S.</a:t>
              </a:r>
              <a:endParaRPr lang="en-IN" dirty="0">
                <a:solidFill>
                  <a:srgbClr val="002060"/>
                </a:solidFill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EBD39B42-1238-F2B1-87A3-2BFCE7B277F0}"/>
                </a:ext>
              </a:extLst>
            </p:cNvPr>
            <p:cNvSpPr txBox="1"/>
            <p:nvPr/>
          </p:nvSpPr>
          <p:spPr>
            <a:xfrm>
              <a:off x="2648603" y="4626170"/>
              <a:ext cx="4873786" cy="67970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noAutofit/>
            </a:bodyPr>
            <a:lstStyle/>
            <a:p>
              <a:r>
                <a:rPr lang="en-US">
                  <a:solidFill>
                    <a:srgbClr val="002060"/>
                  </a:solidFill>
                </a:rPr>
                <a:t>ODD expansion and downtime reduction unlock utilization without adding fleet</a:t>
              </a:r>
              <a:endParaRPr lang="en-IN" dirty="0">
                <a:solidFill>
                  <a:srgbClr val="002060"/>
                </a:solidFill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1FD768C3-B6D5-8368-A214-766CE38A091A}"/>
                </a:ext>
              </a:extLst>
            </p:cNvPr>
            <p:cNvSpPr txBox="1"/>
            <p:nvPr/>
          </p:nvSpPr>
          <p:spPr>
            <a:xfrm>
              <a:off x="2648602" y="5436607"/>
              <a:ext cx="4873786" cy="71999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noAutofit/>
            </a:bodyPr>
            <a:lstStyle/>
            <a:p>
              <a:r>
                <a:rPr lang="en-US" dirty="0">
                  <a:solidFill>
                    <a:srgbClr val="002060"/>
                  </a:solidFill>
                </a:rPr>
                <a:t>Phased 3–5 years scaling governed by utilization, safety, and unit economics</a:t>
              </a:r>
              <a:endParaRPr lang="en-IN" dirty="0">
                <a:solidFill>
                  <a:srgbClr val="002060"/>
                </a:solidFill>
              </a:endParaRPr>
            </a:p>
          </p:txBody>
        </p: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23679F2C-4C4A-A8B9-36B2-3A796D17A04C}"/>
              </a:ext>
            </a:extLst>
          </p:cNvPr>
          <p:cNvSpPr txBox="1"/>
          <p:nvPr/>
        </p:nvSpPr>
        <p:spPr>
          <a:xfrm>
            <a:off x="264861" y="5627302"/>
            <a:ext cx="11518082" cy="6155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700" b="1" dirty="0"/>
              <a:t>Waymo’s highest-impact markets are those where autonomy already delivers outsized value, and a depth-first expansion in these markets converts proven performance into compounding gains in utilization, margins, and regulatory momentum.</a:t>
            </a:r>
            <a:endParaRPr lang="en-IN" sz="1700" b="1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13DF2E13-03D8-0A18-53A5-4C7491C6A75D}"/>
              </a:ext>
            </a:extLst>
          </p:cNvPr>
          <p:cNvSpPr/>
          <p:nvPr/>
        </p:nvSpPr>
        <p:spPr>
          <a:xfrm>
            <a:off x="8002577" y="1369780"/>
            <a:ext cx="3780366" cy="9395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IN" sz="3200" b="1" dirty="0">
                <a:solidFill>
                  <a:srgbClr val="002060"/>
                </a:solidFill>
              </a:rPr>
              <a:t>Current</a:t>
            </a:r>
          </a:p>
          <a:p>
            <a:pPr algn="ctr"/>
            <a:r>
              <a:rPr lang="en-US" b="1" dirty="0">
                <a:solidFill>
                  <a:srgbClr val="002060"/>
                </a:solidFill>
              </a:rPr>
              <a:t>~8–10</a:t>
            </a:r>
            <a:r>
              <a:rPr lang="en-IN" b="1" dirty="0">
                <a:solidFill>
                  <a:srgbClr val="002060"/>
                </a:solidFill>
              </a:rPr>
              <a:t> </a:t>
            </a:r>
            <a:r>
              <a:rPr lang="en-US" b="1" dirty="0">
                <a:solidFill>
                  <a:srgbClr val="002060"/>
                </a:solidFill>
              </a:rPr>
              <a:t>Rides / Vehicle / Day</a:t>
            </a:r>
            <a:endParaRPr lang="en-IN" sz="3200" b="1" dirty="0">
              <a:solidFill>
                <a:srgbClr val="002060"/>
              </a:solidFill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EE558E5D-89CF-C411-9292-BECC592B3810}"/>
              </a:ext>
            </a:extLst>
          </p:cNvPr>
          <p:cNvSpPr/>
          <p:nvPr/>
        </p:nvSpPr>
        <p:spPr>
          <a:xfrm>
            <a:off x="8002577" y="3883573"/>
            <a:ext cx="3780366" cy="12397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IN" sz="3200" b="1" dirty="0">
                <a:solidFill>
                  <a:srgbClr val="002060"/>
                </a:solidFill>
              </a:rPr>
              <a:t>Scale</a:t>
            </a:r>
          </a:p>
          <a:p>
            <a:pPr algn="ctr"/>
            <a:r>
              <a:rPr lang="en-IN" b="1" dirty="0">
                <a:solidFill>
                  <a:srgbClr val="002060"/>
                </a:solidFill>
              </a:rPr>
              <a:t>(Achieved without fleet doubling)</a:t>
            </a:r>
          </a:p>
          <a:p>
            <a:pPr algn="ctr"/>
            <a:r>
              <a:rPr lang="en-IN" b="1" dirty="0">
                <a:solidFill>
                  <a:srgbClr val="002060"/>
                </a:solidFill>
              </a:rPr>
              <a:t>~1.5-2x ride volume</a:t>
            </a:r>
          </a:p>
          <a:p>
            <a:pPr algn="ctr"/>
            <a:endParaRPr lang="en-IN" sz="2400" b="1" dirty="0">
              <a:solidFill>
                <a:srgbClr val="002060"/>
              </a:solidFill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3EBD9766-F600-5BCD-7C3A-9049928AC45D}"/>
              </a:ext>
            </a:extLst>
          </p:cNvPr>
          <p:cNvSpPr/>
          <p:nvPr/>
        </p:nvSpPr>
        <p:spPr>
          <a:xfrm>
            <a:off x="8002577" y="2634219"/>
            <a:ext cx="3780366" cy="9297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IN" sz="3200" b="1" dirty="0">
                <a:solidFill>
                  <a:srgbClr val="002060"/>
                </a:solidFill>
              </a:rPr>
              <a:t>Target</a:t>
            </a:r>
          </a:p>
          <a:p>
            <a:pPr algn="ctr"/>
            <a:r>
              <a:rPr lang="en-US" b="1" dirty="0"/>
              <a:t> </a:t>
            </a:r>
            <a:r>
              <a:rPr lang="en-US" b="1" dirty="0">
                <a:solidFill>
                  <a:srgbClr val="002060"/>
                </a:solidFill>
              </a:rPr>
              <a:t>~18–20 Rides / Vehicle / Day </a:t>
            </a:r>
            <a:endParaRPr lang="en-IN" sz="2000" b="1" dirty="0">
              <a:solidFill>
                <a:srgbClr val="002060"/>
              </a:solidFill>
            </a:endParaRPr>
          </a:p>
          <a:p>
            <a:pPr algn="ctr"/>
            <a:endParaRPr lang="en-IN" sz="2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5055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90D9B-C1D3-F6FE-F1B8-AB9DFDB4C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D7BE8EAC-F462-2013-E51F-8619E3AA9C5C}"/>
              </a:ext>
            </a:extLst>
          </p:cNvPr>
          <p:cNvSpPr/>
          <p:nvPr/>
        </p:nvSpPr>
        <p:spPr>
          <a:xfrm>
            <a:off x="0" y="6423804"/>
            <a:ext cx="2034000" cy="375029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52000">
                <a:schemeClr val="accent1">
                  <a:lumMod val="60000"/>
                  <a:lumOff val="40000"/>
                </a:schemeClr>
              </a:gs>
              <a:gs pos="74000">
                <a:srgbClr val="5F80BA"/>
              </a:gs>
              <a:gs pos="54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700" b="1" dirty="0"/>
              <a:t>Executive Summary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59DC254-FD61-3184-5F58-4764AFBE3920}"/>
              </a:ext>
            </a:extLst>
          </p:cNvPr>
          <p:cNvSpPr/>
          <p:nvPr/>
        </p:nvSpPr>
        <p:spPr>
          <a:xfrm>
            <a:off x="2034000" y="6423804"/>
            <a:ext cx="2034000" cy="37502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700" b="1" dirty="0"/>
              <a:t>Market Analysis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083DDD1-E43D-9D16-C0F0-58C01AFDF01B}"/>
              </a:ext>
            </a:extLst>
          </p:cNvPr>
          <p:cNvSpPr/>
          <p:nvPr/>
        </p:nvSpPr>
        <p:spPr>
          <a:xfrm>
            <a:off x="4068000" y="6423804"/>
            <a:ext cx="2034000" cy="375029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52000">
                <a:schemeClr val="accent1">
                  <a:lumMod val="60000"/>
                  <a:lumOff val="40000"/>
                </a:schemeClr>
              </a:gs>
              <a:gs pos="74000">
                <a:srgbClr val="5F80BA"/>
              </a:gs>
              <a:gs pos="54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700" b="1" dirty="0"/>
              <a:t>Customer Analysis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2D25922-9274-60F6-A243-BE4F0E5E3F96}"/>
              </a:ext>
            </a:extLst>
          </p:cNvPr>
          <p:cNvSpPr/>
          <p:nvPr/>
        </p:nvSpPr>
        <p:spPr>
          <a:xfrm>
            <a:off x="6102000" y="6423804"/>
            <a:ext cx="2127068" cy="375029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52000">
                <a:schemeClr val="accent1">
                  <a:lumMod val="60000"/>
                  <a:lumOff val="40000"/>
                </a:schemeClr>
              </a:gs>
              <a:gs pos="74000">
                <a:srgbClr val="5F80BA"/>
              </a:gs>
              <a:gs pos="54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700" b="1" dirty="0"/>
              <a:t>Competitive Analysis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D966DAD-5B15-BEC3-1908-712024882141}"/>
              </a:ext>
            </a:extLst>
          </p:cNvPr>
          <p:cNvSpPr/>
          <p:nvPr/>
        </p:nvSpPr>
        <p:spPr>
          <a:xfrm>
            <a:off x="8229068" y="6423804"/>
            <a:ext cx="2127068" cy="375029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52000">
                <a:schemeClr val="accent1">
                  <a:lumMod val="60000"/>
                  <a:lumOff val="40000"/>
                </a:schemeClr>
              </a:gs>
              <a:gs pos="74000">
                <a:srgbClr val="5F80BA"/>
              </a:gs>
              <a:gs pos="54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700" b="1" dirty="0"/>
              <a:t>Company Capabilities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4EE5DE4-CE8C-A3A0-55A9-9300CA5F7EC6}"/>
              </a:ext>
            </a:extLst>
          </p:cNvPr>
          <p:cNvSpPr/>
          <p:nvPr/>
        </p:nvSpPr>
        <p:spPr>
          <a:xfrm>
            <a:off x="10356136" y="6423804"/>
            <a:ext cx="1847863" cy="375029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52000">
                <a:schemeClr val="accent1">
                  <a:lumMod val="60000"/>
                  <a:lumOff val="40000"/>
                </a:schemeClr>
              </a:gs>
              <a:gs pos="74000">
                <a:srgbClr val="5F80BA"/>
              </a:gs>
              <a:gs pos="54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700" b="1" dirty="0"/>
              <a:t>Next Steps</a:t>
            </a: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81E598E2-4915-7D86-CCFD-07DAEFE7BAB5}"/>
              </a:ext>
            </a:extLst>
          </p:cNvPr>
          <p:cNvSpPr txBox="1">
            <a:spLocks/>
          </p:cNvSpPr>
          <p:nvPr/>
        </p:nvSpPr>
        <p:spPr>
          <a:xfrm>
            <a:off x="799381" y="125304"/>
            <a:ext cx="9144000" cy="54058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002060"/>
                </a:solidFill>
                <a:latin typeface="+mn-lt"/>
              </a:rPr>
              <a:t>Economically Viable AV Demand Is Concentrated</a:t>
            </a:r>
            <a:endParaRPr lang="en-IN" sz="3200" dirty="0">
              <a:solidFill>
                <a:srgbClr val="002060"/>
              </a:solidFill>
              <a:latin typeface="+mn-lt"/>
            </a:endParaRP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BFE6D7B-4DDA-D38F-3796-1057A0F07D75}"/>
              </a:ext>
            </a:extLst>
          </p:cNvPr>
          <p:cNvCxnSpPr>
            <a:cxnSpLocks/>
          </p:cNvCxnSpPr>
          <p:nvPr/>
        </p:nvCxnSpPr>
        <p:spPr>
          <a:xfrm>
            <a:off x="863276" y="750285"/>
            <a:ext cx="11328724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E614B2A-F3B6-E71F-57AE-C540EFEC1B78}"/>
              </a:ext>
            </a:extLst>
          </p:cNvPr>
          <p:cNvGrpSpPr/>
          <p:nvPr/>
        </p:nvGrpSpPr>
        <p:grpSpPr>
          <a:xfrm>
            <a:off x="6470168" y="3612946"/>
            <a:ext cx="5604485" cy="2820695"/>
            <a:chOff x="6461624" y="2772454"/>
            <a:chExt cx="5604485" cy="3137959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67DC7C53-21B0-2BFE-44D4-247CA688EF24}"/>
                </a:ext>
              </a:extLst>
            </p:cNvPr>
            <p:cNvSpPr/>
            <p:nvPr/>
          </p:nvSpPr>
          <p:spPr>
            <a:xfrm>
              <a:off x="6461624" y="2772454"/>
              <a:ext cx="5604485" cy="375030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solidFill>
                    <a:schemeClr val="bg1"/>
                  </a:solidFill>
                </a:rPr>
                <a:t>KEY TAKEAWAYS</a:t>
              </a:r>
            </a:p>
          </p:txBody>
        </p:sp>
        <p:sp>
          <p:nvSpPr>
            <p:cNvPr id="63" name="Content Placeholder 2">
              <a:extLst>
                <a:ext uri="{FF2B5EF4-FFF2-40B4-BE49-F238E27FC236}">
                  <a16:creationId xmlns:a16="http://schemas.microsoft.com/office/drawing/2014/main" id="{6C975643-7355-3C79-2F33-B7805357396C}"/>
                </a:ext>
              </a:extLst>
            </p:cNvPr>
            <p:cNvSpPr txBox="1">
              <a:spLocks/>
            </p:cNvSpPr>
            <p:nvPr/>
          </p:nvSpPr>
          <p:spPr>
            <a:xfrm>
              <a:off x="6519094" y="3159411"/>
              <a:ext cx="5547015" cy="275100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indent="-342900" algn="l">
                <a:buFont typeface="Wingdings" panose="05000000000000000000" pitchFamily="2" charset="2"/>
                <a:buChar char="q"/>
              </a:pPr>
              <a:r>
                <a:rPr lang="en-US" sz="1600" dirty="0">
                  <a:solidFill>
                    <a:srgbClr val="002060"/>
                  </a:solidFill>
                </a:rPr>
                <a:t>Half of monetizable U.S. ride demand occurs in &lt;20% of urban geography</a:t>
              </a:r>
              <a:endParaRPr lang="en-IN" sz="1600" dirty="0">
                <a:solidFill>
                  <a:srgbClr val="002060"/>
                </a:solidFill>
              </a:endParaRPr>
            </a:p>
            <a:p>
              <a:pPr marL="342900" indent="-342900" algn="l">
                <a:buFont typeface="Wingdings" panose="05000000000000000000" pitchFamily="2" charset="2"/>
                <a:buChar char="q"/>
              </a:pPr>
              <a:r>
                <a:rPr lang="en-US" sz="1600" dirty="0">
                  <a:solidFill>
                    <a:srgbClr val="002060"/>
                  </a:solidFill>
                </a:rPr>
                <a:t>Dense metro cores are the real SAM for autonomous ride-hailing, combining demand density with congestion-relief priorities.</a:t>
              </a:r>
            </a:p>
            <a:p>
              <a:pPr marL="342900" indent="-342900" algn="l">
                <a:buFont typeface="Wingdings" panose="05000000000000000000" pitchFamily="2" charset="2"/>
                <a:buChar char="q"/>
              </a:pPr>
              <a:r>
                <a:rPr lang="en-US" sz="1600" dirty="0">
                  <a:solidFill>
                    <a:srgbClr val="002060"/>
                  </a:solidFill>
                </a:rPr>
                <a:t>AV-friendly states (AZ, TX, NV, CA) materially reduce launch friction</a:t>
              </a:r>
            </a:p>
            <a:p>
              <a:pPr marL="342900" indent="-342900" algn="l">
                <a:buFont typeface="Wingdings" panose="05000000000000000000" pitchFamily="2" charset="2"/>
                <a:buChar char="q"/>
              </a:pPr>
              <a:r>
                <a:rPr lang="en-US" sz="1600" dirty="0">
                  <a:solidFill>
                    <a:srgbClr val="002060"/>
                  </a:solidFill>
                </a:rPr>
                <a:t>Expansion outside cores sharply degrades utilization and margins</a:t>
              </a:r>
            </a:p>
            <a:p>
              <a:pPr marL="342900" indent="-342900" algn="l" fontAlgn="base">
                <a:buFont typeface="Wingdings" panose="05000000000000000000" pitchFamily="2" charset="2"/>
                <a:buChar char="q"/>
              </a:pPr>
              <a:endParaRPr lang="en-US" sz="1600" dirty="0">
                <a:solidFill>
                  <a:srgbClr val="002060"/>
                </a:solidFill>
              </a:endParaRPr>
            </a:p>
            <a:p>
              <a:pPr marL="342900" indent="-342900" algn="l" fontAlgn="base">
                <a:buFont typeface="Wingdings" panose="05000000000000000000" pitchFamily="2" charset="2"/>
                <a:buChar char="q"/>
              </a:pPr>
              <a:endParaRPr lang="en-US" sz="1600" dirty="0">
                <a:solidFill>
                  <a:srgbClr val="002060"/>
                </a:solidFill>
              </a:endParaRPr>
            </a:p>
            <a:p>
              <a:pPr marL="342900" indent="-342900" algn="l">
                <a:buFont typeface="Wingdings" panose="05000000000000000000" pitchFamily="2" charset="2"/>
                <a:buChar char="q"/>
              </a:pPr>
              <a:endParaRPr lang="en-IN" sz="1600" dirty="0">
                <a:solidFill>
                  <a:srgbClr val="002060"/>
                </a:solidFill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F95E370D-3CFD-0AEF-CBC1-0907FEEFCD19}"/>
              </a:ext>
            </a:extLst>
          </p:cNvPr>
          <p:cNvGrpSpPr/>
          <p:nvPr/>
        </p:nvGrpSpPr>
        <p:grpSpPr>
          <a:xfrm>
            <a:off x="6470168" y="2411033"/>
            <a:ext cx="5675343" cy="1176011"/>
            <a:chOff x="6414225" y="2584940"/>
            <a:chExt cx="12164527" cy="1336107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54686BFA-47A5-8954-C52F-3691D06841F9}"/>
                </a:ext>
              </a:extLst>
            </p:cNvPr>
            <p:cNvSpPr/>
            <p:nvPr/>
          </p:nvSpPr>
          <p:spPr>
            <a:xfrm>
              <a:off x="6414225" y="2584940"/>
              <a:ext cx="11994332" cy="434309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KEY DRIVERS</a:t>
              </a:r>
            </a:p>
          </p:txBody>
        </p:sp>
        <p:sp>
          <p:nvSpPr>
            <p:cNvPr id="67" name="Content Placeholder 2">
              <a:extLst>
                <a:ext uri="{FF2B5EF4-FFF2-40B4-BE49-F238E27FC236}">
                  <a16:creationId xmlns:a16="http://schemas.microsoft.com/office/drawing/2014/main" id="{C54A874A-7AB8-762C-5E17-D92E33A83F6F}"/>
                </a:ext>
              </a:extLst>
            </p:cNvPr>
            <p:cNvSpPr txBox="1">
              <a:spLocks/>
            </p:cNvSpPr>
            <p:nvPr/>
          </p:nvSpPr>
          <p:spPr>
            <a:xfrm>
              <a:off x="6519095" y="3094750"/>
              <a:ext cx="4206966" cy="826297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indent="-342900" algn="l">
                <a:buSzPct val="130000"/>
                <a:buFont typeface="Wingdings" panose="05000000000000000000" pitchFamily="2" charset="2"/>
                <a:buChar char="§"/>
              </a:pPr>
              <a:r>
                <a:rPr lang="en-US" sz="1800" b="1" dirty="0">
                  <a:solidFill>
                    <a:srgbClr val="002060"/>
                  </a:solidFill>
                </a:rPr>
                <a:t>Trip frequency</a:t>
              </a:r>
            </a:p>
            <a:p>
              <a:pPr marL="342900" indent="-342900" algn="l">
                <a:buSzPct val="130000"/>
                <a:buFont typeface="Wingdings" panose="05000000000000000000" pitchFamily="2" charset="2"/>
                <a:buChar char="§"/>
              </a:pPr>
              <a:r>
                <a:rPr lang="en-US" sz="1800" b="1" dirty="0">
                  <a:solidFill>
                    <a:srgbClr val="002060"/>
                  </a:solidFill>
                </a:rPr>
                <a:t>Trip Length</a:t>
              </a:r>
            </a:p>
            <a:p>
              <a:pPr marL="342900" indent="-342900" algn="l">
                <a:buSzPct val="130000"/>
                <a:buFont typeface="Wingdings" panose="05000000000000000000" pitchFamily="2" charset="2"/>
                <a:buChar char="§"/>
              </a:pPr>
              <a:endParaRPr lang="en-IN" sz="1800" b="1" dirty="0">
                <a:solidFill>
                  <a:srgbClr val="002060"/>
                </a:solidFill>
              </a:endParaRPr>
            </a:p>
          </p:txBody>
        </p:sp>
        <p:sp>
          <p:nvSpPr>
            <p:cNvPr id="74" name="Content Placeholder 2">
              <a:extLst>
                <a:ext uri="{FF2B5EF4-FFF2-40B4-BE49-F238E27FC236}">
                  <a16:creationId xmlns:a16="http://schemas.microsoft.com/office/drawing/2014/main" id="{B54CFB4A-35D5-0153-811A-AD0649E24A60}"/>
                </a:ext>
              </a:extLst>
            </p:cNvPr>
            <p:cNvSpPr txBox="1">
              <a:spLocks/>
            </p:cNvSpPr>
            <p:nvPr/>
          </p:nvSpPr>
          <p:spPr>
            <a:xfrm>
              <a:off x="10820677" y="3092279"/>
              <a:ext cx="7758075" cy="826297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indent="-342900" algn="l">
                <a:buSzPct val="130000"/>
                <a:buFont typeface="Wingdings" panose="05000000000000000000" pitchFamily="2" charset="2"/>
                <a:buChar char="§"/>
              </a:pPr>
              <a:r>
                <a:rPr lang="en-US" sz="1800" b="1" dirty="0">
                  <a:solidFill>
                    <a:srgbClr val="002060"/>
                  </a:solidFill>
                </a:rPr>
                <a:t>Deadhead miles</a:t>
              </a:r>
            </a:p>
            <a:p>
              <a:pPr marL="342900" indent="-342900" algn="l">
                <a:buSzPct val="130000"/>
                <a:buFont typeface="Wingdings" panose="05000000000000000000" pitchFamily="2" charset="2"/>
                <a:buChar char="§"/>
              </a:pPr>
              <a:r>
                <a:rPr lang="en-US" sz="1800" b="1" dirty="0">
                  <a:solidFill>
                    <a:srgbClr val="002060"/>
                  </a:solidFill>
                </a:rPr>
                <a:t>Local operations cost (40–50%)</a:t>
              </a:r>
            </a:p>
            <a:p>
              <a:pPr marL="342900" indent="-342900" algn="l">
                <a:buSzPct val="130000"/>
                <a:buFont typeface="Wingdings" panose="05000000000000000000" pitchFamily="2" charset="2"/>
                <a:buChar char="§"/>
              </a:pPr>
              <a:endParaRPr lang="en-IN" sz="1800" b="1" dirty="0">
                <a:solidFill>
                  <a:srgbClr val="002060"/>
                </a:solidFill>
              </a:endParaRPr>
            </a:p>
          </p:txBody>
        </p:sp>
      </p:grpSp>
      <p:graphicFrame>
        <p:nvGraphicFramePr>
          <p:cNvPr id="73" name="Table 72">
            <a:extLst>
              <a:ext uri="{FF2B5EF4-FFF2-40B4-BE49-F238E27FC236}">
                <a16:creationId xmlns:a16="http://schemas.microsoft.com/office/drawing/2014/main" id="{E7BF8034-A7EE-2B75-E3A3-DF1F5D0AE0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0979088"/>
              </p:ext>
            </p:extLst>
          </p:nvPr>
        </p:nvGraphicFramePr>
        <p:xfrm>
          <a:off x="6470168" y="788815"/>
          <a:ext cx="5595939" cy="15557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8640">
                  <a:extLst>
                    <a:ext uri="{9D8B030D-6E8A-4147-A177-3AD203B41FA5}">
                      <a16:colId xmlns:a16="http://schemas.microsoft.com/office/drawing/2014/main" val="689121581"/>
                    </a:ext>
                  </a:extLst>
                </a:gridCol>
                <a:gridCol w="1381239">
                  <a:extLst>
                    <a:ext uri="{9D8B030D-6E8A-4147-A177-3AD203B41FA5}">
                      <a16:colId xmlns:a16="http://schemas.microsoft.com/office/drawing/2014/main" val="1361901091"/>
                    </a:ext>
                  </a:extLst>
                </a:gridCol>
                <a:gridCol w="2376060">
                  <a:extLst>
                    <a:ext uri="{9D8B030D-6E8A-4147-A177-3AD203B41FA5}">
                      <a16:colId xmlns:a16="http://schemas.microsoft.com/office/drawing/2014/main" val="1918307722"/>
                    </a:ext>
                  </a:extLst>
                </a:gridCol>
              </a:tblGrid>
              <a:tr h="567842">
                <a:tc>
                  <a:txBody>
                    <a:bodyPr/>
                    <a:lstStyle/>
                    <a:p>
                      <a:r>
                        <a:rPr lang="en-IN" sz="1600" dirty="0"/>
                        <a:t>Market Segment</a:t>
                      </a:r>
                    </a:p>
                  </a:txBody>
                  <a:tcPr marL="81120" marR="81120" marT="40560" marB="4056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i="0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 of U.S. Ride Demand</a:t>
                      </a:r>
                      <a:endParaRPr lang="en-IN" sz="1600" dirty="0"/>
                    </a:p>
                  </a:txBody>
                  <a:tcPr marL="81120" marR="81120" marT="40560" marB="4056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AV Economics</a:t>
                      </a:r>
                    </a:p>
                  </a:txBody>
                  <a:tcPr marL="81120" marR="81120" marT="40560" marB="40560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875538"/>
                  </a:ext>
                </a:extLst>
              </a:tr>
              <a:tr h="328988">
                <a:tc>
                  <a:txBody>
                    <a:bodyPr/>
                    <a:lstStyle/>
                    <a:p>
                      <a:r>
                        <a:rPr lang="en-IN" sz="1600" b="0" i="0" u="none" strike="noStrike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Dense metro cores</a:t>
                      </a:r>
                      <a:endParaRPr lang="en-IN" sz="1600" dirty="0">
                        <a:solidFill>
                          <a:srgbClr val="002060"/>
                        </a:solidFill>
                      </a:endParaRPr>
                    </a:p>
                  </a:txBody>
                  <a:tcPr marL="81120" marR="81120" marT="40560" marB="405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0" i="0" u="none" strike="noStrike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~45–55%</a:t>
                      </a:r>
                      <a:endParaRPr lang="en-IN" sz="1600" dirty="0">
                        <a:solidFill>
                          <a:srgbClr val="002060"/>
                        </a:solidFill>
                      </a:endParaRPr>
                    </a:p>
                  </a:txBody>
                  <a:tcPr marL="81120" marR="81120" marT="40560" marB="405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0" i="0" u="none" strike="noStrike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 utilization, short trips</a:t>
                      </a:r>
                      <a:endParaRPr lang="en-IN" sz="1600" dirty="0">
                        <a:solidFill>
                          <a:srgbClr val="002060"/>
                        </a:solidFill>
                      </a:endParaRPr>
                    </a:p>
                  </a:txBody>
                  <a:tcPr marL="81120" marR="81120" marT="40560" marB="405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8496072"/>
                  </a:ext>
                </a:extLst>
              </a:tr>
              <a:tr h="328988">
                <a:tc>
                  <a:txBody>
                    <a:bodyPr/>
                    <a:lstStyle/>
                    <a:p>
                      <a:r>
                        <a:rPr lang="en-IN" sz="1600" b="0" i="0" u="none" strike="noStrike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Suburban / sprawl</a:t>
                      </a:r>
                      <a:endParaRPr lang="en-IN" sz="1600" dirty="0">
                        <a:solidFill>
                          <a:srgbClr val="002060"/>
                        </a:solidFill>
                      </a:endParaRPr>
                    </a:p>
                  </a:txBody>
                  <a:tcPr marL="81120" marR="81120" marT="40560" marB="405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0" i="0" u="none" strike="noStrike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~30–35%</a:t>
                      </a:r>
                      <a:endParaRPr lang="en-IN" sz="1600" dirty="0">
                        <a:solidFill>
                          <a:srgbClr val="002060"/>
                        </a:solidFill>
                      </a:endParaRPr>
                    </a:p>
                  </a:txBody>
                  <a:tcPr marL="81120" marR="81120" marT="40560" marB="405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0" i="0" u="none" strike="noStrike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Low repeatability</a:t>
                      </a:r>
                      <a:endParaRPr lang="en-IN" sz="1600" dirty="0">
                        <a:solidFill>
                          <a:srgbClr val="002060"/>
                        </a:solidFill>
                      </a:endParaRPr>
                    </a:p>
                  </a:txBody>
                  <a:tcPr marL="81120" marR="81120" marT="40560" marB="405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407851"/>
                  </a:ext>
                </a:extLst>
              </a:tr>
              <a:tr h="328988">
                <a:tc>
                  <a:txBody>
                    <a:bodyPr/>
                    <a:lstStyle/>
                    <a:p>
                      <a:r>
                        <a:rPr lang="en-IN" sz="1600" b="0" i="0" u="none" strike="noStrike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Low-density / rural</a:t>
                      </a:r>
                      <a:endParaRPr lang="en-IN" sz="1600" dirty="0">
                        <a:solidFill>
                          <a:srgbClr val="002060"/>
                        </a:solidFill>
                      </a:endParaRPr>
                    </a:p>
                  </a:txBody>
                  <a:tcPr marL="81120" marR="81120" marT="40560" marB="405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0" i="0" u="none" strike="noStrike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~10–20%</a:t>
                      </a:r>
                      <a:endParaRPr lang="en-IN" sz="1600" dirty="0">
                        <a:solidFill>
                          <a:srgbClr val="002060"/>
                        </a:solidFill>
                      </a:endParaRPr>
                    </a:p>
                  </a:txBody>
                  <a:tcPr marL="81120" marR="81120" marT="40560" marB="405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0" i="0" u="none" strike="noStrike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Poor economics</a:t>
                      </a:r>
                      <a:endParaRPr lang="en-IN" sz="1600" dirty="0">
                        <a:solidFill>
                          <a:srgbClr val="002060"/>
                        </a:solidFill>
                      </a:endParaRPr>
                    </a:p>
                  </a:txBody>
                  <a:tcPr marL="81120" marR="81120" marT="40560" marB="405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539500"/>
                  </a:ext>
                </a:extLst>
              </a:tr>
            </a:tbl>
          </a:graphicData>
        </a:graphic>
      </p:graphicFrame>
      <p:sp>
        <p:nvSpPr>
          <p:cNvPr id="76" name="Content Placeholder 2">
            <a:extLst>
              <a:ext uri="{FF2B5EF4-FFF2-40B4-BE49-F238E27FC236}">
                <a16:creationId xmlns:a16="http://schemas.microsoft.com/office/drawing/2014/main" id="{4B37DD2C-0CC3-0EE5-9BF2-4CC3A9865D6B}"/>
              </a:ext>
            </a:extLst>
          </p:cNvPr>
          <p:cNvSpPr txBox="1">
            <a:spLocks/>
          </p:cNvSpPr>
          <p:nvPr/>
        </p:nvSpPr>
        <p:spPr>
          <a:xfrm>
            <a:off x="409018" y="4440381"/>
            <a:ext cx="2537136" cy="3750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chemeClr val="accent1">
                  <a:lumMod val="60000"/>
                  <a:lumOff val="40000"/>
                </a:schemeClr>
              </a:buClr>
              <a:buSzPct val="150000"/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Waymo’s presence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2E7FB4BC-D5F3-32B5-3D2C-3231CD54FDB5}"/>
              </a:ext>
            </a:extLst>
          </p:cNvPr>
          <p:cNvSpPr/>
          <p:nvPr/>
        </p:nvSpPr>
        <p:spPr>
          <a:xfrm>
            <a:off x="172528" y="6008902"/>
            <a:ext cx="5785450" cy="3305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000" dirty="0">
                <a:solidFill>
                  <a:schemeClr val="tx1"/>
                </a:solidFill>
              </a:rPr>
              <a:t>Sources:</a:t>
            </a:r>
          </a:p>
          <a:p>
            <a:r>
              <a:rPr lang="en-IN" sz="1000" dirty="0">
                <a:solidFill>
                  <a:schemeClr val="tx1"/>
                </a:solidFill>
                <a:hlinkClick r:id="rId2"/>
              </a:rPr>
              <a:t>McKinsey(2026)</a:t>
            </a:r>
            <a:r>
              <a:rPr lang="en-IN" sz="1000" dirty="0">
                <a:solidFill>
                  <a:schemeClr val="tx1"/>
                </a:solidFill>
              </a:rPr>
              <a:t>, </a:t>
            </a:r>
            <a:r>
              <a:rPr lang="en-IN" sz="1000" dirty="0">
                <a:solidFill>
                  <a:schemeClr val="tx1"/>
                </a:solidFill>
                <a:hlinkClick r:id="rId3"/>
              </a:rPr>
              <a:t>Deloitte(2025)</a:t>
            </a:r>
            <a:r>
              <a:rPr lang="en-IN" sz="1000" dirty="0">
                <a:solidFill>
                  <a:schemeClr val="tx1"/>
                </a:solidFill>
              </a:rPr>
              <a:t>, </a:t>
            </a:r>
            <a:r>
              <a:rPr lang="en-IN" sz="1000" dirty="0">
                <a:solidFill>
                  <a:schemeClr val="tx1"/>
                </a:solidFill>
                <a:hlinkClick r:id="rId4"/>
              </a:rPr>
              <a:t>Dentons(2025)</a:t>
            </a:r>
            <a:r>
              <a:rPr lang="en-IN" sz="1000" dirty="0">
                <a:solidFill>
                  <a:schemeClr val="tx1"/>
                </a:solidFill>
              </a:rPr>
              <a:t>, </a:t>
            </a:r>
            <a:r>
              <a:rPr lang="en-IN" sz="1000" dirty="0">
                <a:solidFill>
                  <a:schemeClr val="tx1"/>
                </a:solidFill>
                <a:hlinkClick r:id="rId5"/>
              </a:rPr>
              <a:t>INRIX Mobility &amp; Congestion Report(2017) </a:t>
            </a:r>
            <a:endParaRPr lang="en-IN" sz="1000" dirty="0">
              <a:solidFill>
                <a:schemeClr val="tx1"/>
              </a:solidFill>
            </a:endParaRPr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BB37EC9C-6D3E-B89E-7801-CDCFEBD10B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8" t="7851" r="4190" b="7352"/>
          <a:stretch>
            <a:fillRect/>
          </a:stretch>
        </p:blipFill>
        <p:spPr>
          <a:xfrm>
            <a:off x="658958" y="934274"/>
            <a:ext cx="5437042" cy="3345920"/>
          </a:xfrm>
          <a:prstGeom prst="rect">
            <a:avLst/>
          </a:prstGeom>
        </p:spPr>
      </p:pic>
      <p:sp>
        <p:nvSpPr>
          <p:cNvPr id="90" name="Content Placeholder 2">
            <a:extLst>
              <a:ext uri="{FF2B5EF4-FFF2-40B4-BE49-F238E27FC236}">
                <a16:creationId xmlns:a16="http://schemas.microsoft.com/office/drawing/2014/main" id="{98CC037D-A157-CD52-F9FD-9ACCF712191A}"/>
              </a:ext>
            </a:extLst>
          </p:cNvPr>
          <p:cNvSpPr txBox="1">
            <a:spLocks/>
          </p:cNvSpPr>
          <p:nvPr/>
        </p:nvSpPr>
        <p:spPr>
          <a:xfrm>
            <a:off x="3092903" y="4440380"/>
            <a:ext cx="2653441" cy="3750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92D050"/>
              </a:buClr>
              <a:buSzPct val="150000"/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00B050"/>
                </a:solidFill>
              </a:rPr>
              <a:t>AV-friendly states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7A266A-4746-286A-37D2-B2F18EBBF419}"/>
              </a:ext>
            </a:extLst>
          </p:cNvPr>
          <p:cNvSpPr txBox="1"/>
          <p:nvPr/>
        </p:nvSpPr>
        <p:spPr>
          <a:xfrm>
            <a:off x="327037" y="5426345"/>
            <a:ext cx="5630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2060"/>
                </a:solidFill>
              </a:rPr>
              <a:t>Capturing even a small share implies millions of rides</a:t>
            </a:r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4C5C74-12CA-1083-9F7B-C7DFB33ECAAF}"/>
              </a:ext>
            </a:extLst>
          </p:cNvPr>
          <p:cNvSpPr txBox="1"/>
          <p:nvPr/>
        </p:nvSpPr>
        <p:spPr>
          <a:xfrm>
            <a:off x="327037" y="4975596"/>
            <a:ext cx="1413476" cy="450749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Market Size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A75E35-0DFE-40B3-F5F4-06004EDAABDB}"/>
              </a:ext>
            </a:extLst>
          </p:cNvPr>
          <p:cNvSpPr txBox="1"/>
          <p:nvPr/>
        </p:nvSpPr>
        <p:spPr>
          <a:xfrm>
            <a:off x="1740513" y="4975595"/>
            <a:ext cx="4217465" cy="43908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tIns="72000" rtlCol="0" anchor="t">
            <a:no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U.S. ride-hailing TAM ~$28.5B (2024) </a:t>
            </a:r>
          </a:p>
          <a:p>
            <a:pPr algn="ctr"/>
            <a:endParaRPr lang="en-IN" dirty="0">
              <a:solidFill>
                <a:srgbClr val="00206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2F632E-C4B0-C673-18E1-2FB4E685818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94" b="7758"/>
          <a:stretch>
            <a:fillRect/>
          </a:stretch>
        </p:blipFill>
        <p:spPr>
          <a:xfrm>
            <a:off x="620474" y="1062323"/>
            <a:ext cx="5497550" cy="3124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346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5E535-ABBD-C898-D5E5-4A7B37E88F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790968"/>
            <a:ext cx="12191999" cy="451356"/>
          </a:xfrm>
          <a:gradFill>
            <a:gsLst>
              <a:gs pos="12000">
                <a:schemeClr val="accent1">
                  <a:lumMod val="20000"/>
                  <a:lumOff val="80000"/>
                </a:schemeClr>
              </a:gs>
              <a:gs pos="54000">
                <a:schemeClr val="accent1">
                  <a:lumMod val="60000"/>
                  <a:lumOff val="40000"/>
                </a:schemeClr>
              </a:gs>
              <a:gs pos="99000">
                <a:srgbClr val="5F80BA"/>
              </a:gs>
              <a:gs pos="79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anchor="ctr">
            <a:normAutofit/>
          </a:bodyPr>
          <a:lstStyle/>
          <a:p>
            <a:r>
              <a:rPr lang="en-IN" sz="2200" dirty="0">
                <a:solidFill>
                  <a:srgbClr val="002060"/>
                </a:solidFill>
                <a:latin typeface="+mn-lt"/>
              </a:rPr>
              <a:t>Core Insight: </a:t>
            </a:r>
            <a:r>
              <a:rPr lang="en-US" sz="2200" dirty="0">
                <a:solidFill>
                  <a:srgbClr val="002060"/>
                </a:solidFill>
                <a:latin typeface="+mn-lt"/>
              </a:rPr>
              <a:t>Top ~25% of riders account for ~60% of total rides</a:t>
            </a:r>
            <a:endParaRPr lang="en-IN" sz="2200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623CB69-A291-00A7-A9A6-A77E3370ABB7}"/>
              </a:ext>
            </a:extLst>
          </p:cNvPr>
          <p:cNvSpPr/>
          <p:nvPr/>
        </p:nvSpPr>
        <p:spPr>
          <a:xfrm>
            <a:off x="0" y="6423804"/>
            <a:ext cx="2034000" cy="375029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52000">
                <a:schemeClr val="accent1">
                  <a:lumMod val="60000"/>
                  <a:lumOff val="40000"/>
                </a:schemeClr>
              </a:gs>
              <a:gs pos="74000">
                <a:srgbClr val="5F80BA"/>
              </a:gs>
              <a:gs pos="54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700" b="1" dirty="0"/>
              <a:t>Executive Summary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2671A8F-3D48-83BE-51D1-0F12DBE6C46A}"/>
              </a:ext>
            </a:extLst>
          </p:cNvPr>
          <p:cNvSpPr/>
          <p:nvPr/>
        </p:nvSpPr>
        <p:spPr>
          <a:xfrm>
            <a:off x="2034000" y="6423804"/>
            <a:ext cx="2034000" cy="375029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52000">
                <a:schemeClr val="accent1">
                  <a:lumMod val="60000"/>
                  <a:lumOff val="40000"/>
                </a:schemeClr>
              </a:gs>
              <a:gs pos="74000">
                <a:srgbClr val="5F80BA"/>
              </a:gs>
              <a:gs pos="54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700" b="1" dirty="0"/>
              <a:t>Market Analysis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627B8A5-69DD-4730-499F-AF138B21BB20}"/>
              </a:ext>
            </a:extLst>
          </p:cNvPr>
          <p:cNvSpPr/>
          <p:nvPr/>
        </p:nvSpPr>
        <p:spPr>
          <a:xfrm>
            <a:off x="4068000" y="6423804"/>
            <a:ext cx="2034000" cy="37502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700" b="1" dirty="0"/>
              <a:t>Customer Analysis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440FAB2-5269-6060-D10E-F654378F9A5D}"/>
              </a:ext>
            </a:extLst>
          </p:cNvPr>
          <p:cNvSpPr/>
          <p:nvPr/>
        </p:nvSpPr>
        <p:spPr>
          <a:xfrm>
            <a:off x="6102000" y="6423804"/>
            <a:ext cx="2127068" cy="375029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52000">
                <a:schemeClr val="accent1">
                  <a:lumMod val="60000"/>
                  <a:lumOff val="40000"/>
                </a:schemeClr>
              </a:gs>
              <a:gs pos="74000">
                <a:srgbClr val="5F80BA"/>
              </a:gs>
              <a:gs pos="54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700" b="1" dirty="0"/>
              <a:t>Competitive Analysis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81FE42C-2321-CA84-FDF9-AED3E4D9AF0C}"/>
              </a:ext>
            </a:extLst>
          </p:cNvPr>
          <p:cNvSpPr/>
          <p:nvPr/>
        </p:nvSpPr>
        <p:spPr>
          <a:xfrm>
            <a:off x="8229068" y="6423804"/>
            <a:ext cx="2127068" cy="375029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52000">
                <a:schemeClr val="accent1">
                  <a:lumMod val="60000"/>
                  <a:lumOff val="40000"/>
                </a:schemeClr>
              </a:gs>
              <a:gs pos="74000">
                <a:srgbClr val="5F80BA"/>
              </a:gs>
              <a:gs pos="54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700" b="1" dirty="0"/>
              <a:t>Company Capabilities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8A37ABF-6E43-887E-6CBA-B004906E755F}"/>
              </a:ext>
            </a:extLst>
          </p:cNvPr>
          <p:cNvSpPr/>
          <p:nvPr/>
        </p:nvSpPr>
        <p:spPr>
          <a:xfrm>
            <a:off x="10356136" y="6423804"/>
            <a:ext cx="1847863" cy="375029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52000">
                <a:schemeClr val="accent1">
                  <a:lumMod val="60000"/>
                  <a:lumOff val="40000"/>
                </a:schemeClr>
              </a:gs>
              <a:gs pos="74000">
                <a:srgbClr val="5F80BA"/>
              </a:gs>
              <a:gs pos="54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700" b="1" dirty="0"/>
              <a:t>Next Steps</a:t>
            </a:r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6614E7D8-C6B7-8930-1FDC-EC764EFDEEC9}"/>
              </a:ext>
            </a:extLst>
          </p:cNvPr>
          <p:cNvSpPr txBox="1">
            <a:spLocks/>
          </p:cNvSpPr>
          <p:nvPr/>
        </p:nvSpPr>
        <p:spPr>
          <a:xfrm>
            <a:off x="799381" y="90483"/>
            <a:ext cx="10167113" cy="6814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002060"/>
                </a:solidFill>
                <a:latin typeface="+mn-lt"/>
              </a:rPr>
              <a:t>Utilization Is Driven by High-Frequency Users</a:t>
            </a:r>
            <a:endParaRPr lang="en-IN" sz="3200" dirty="0">
              <a:solidFill>
                <a:srgbClr val="002060"/>
              </a:solidFill>
              <a:latin typeface="+mn-lt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F3EBD37-AB1D-806E-7182-E01F1CB7B3CA}"/>
              </a:ext>
            </a:extLst>
          </p:cNvPr>
          <p:cNvCxnSpPr>
            <a:cxnSpLocks/>
          </p:cNvCxnSpPr>
          <p:nvPr/>
        </p:nvCxnSpPr>
        <p:spPr>
          <a:xfrm>
            <a:off x="942623" y="760727"/>
            <a:ext cx="11249377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667C1EB-80FC-276B-FCF6-9EE7CA2D75CC}"/>
              </a:ext>
            </a:extLst>
          </p:cNvPr>
          <p:cNvGrpSpPr/>
          <p:nvPr/>
        </p:nvGrpSpPr>
        <p:grpSpPr>
          <a:xfrm>
            <a:off x="6490106" y="1296673"/>
            <a:ext cx="5301787" cy="1145843"/>
            <a:chOff x="6461624" y="2772454"/>
            <a:chExt cx="5604485" cy="1338322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BF7E2BB7-582D-B9D9-B3B6-78BDAEA86A33}"/>
                </a:ext>
              </a:extLst>
            </p:cNvPr>
            <p:cNvSpPr/>
            <p:nvPr/>
          </p:nvSpPr>
          <p:spPr>
            <a:xfrm>
              <a:off x="6461624" y="2772454"/>
              <a:ext cx="5604485" cy="375030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solidFill>
                    <a:schemeClr val="bg1"/>
                  </a:solidFill>
                </a:rPr>
                <a:t>ADOPTION REALITY</a:t>
              </a:r>
            </a:p>
          </p:txBody>
        </p:sp>
        <p:sp>
          <p:nvSpPr>
            <p:cNvPr id="49" name="Content Placeholder 2">
              <a:extLst>
                <a:ext uri="{FF2B5EF4-FFF2-40B4-BE49-F238E27FC236}">
                  <a16:creationId xmlns:a16="http://schemas.microsoft.com/office/drawing/2014/main" id="{D019FF20-96E7-7D40-0458-DD020BE0BC2F}"/>
                </a:ext>
              </a:extLst>
            </p:cNvPr>
            <p:cNvSpPr txBox="1">
              <a:spLocks/>
            </p:cNvSpPr>
            <p:nvPr/>
          </p:nvSpPr>
          <p:spPr>
            <a:xfrm>
              <a:off x="6519094" y="3276466"/>
              <a:ext cx="5547015" cy="83431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 algn="l" fontAlgn="base">
                <a:buFont typeface="Wingdings" panose="05000000000000000000" pitchFamily="2" charset="2"/>
                <a:buChar char="q"/>
              </a:pPr>
              <a:r>
                <a:rPr lang="en-US" sz="1600" dirty="0">
                  <a:solidFill>
                    <a:srgbClr val="002060"/>
                  </a:solidFill>
                </a:rPr>
                <a:t>~60–70% of Americans remain uneasy about AVs</a:t>
              </a:r>
            </a:p>
            <a:p>
              <a:pPr marL="285750" indent="-285750" algn="l" fontAlgn="base">
                <a:buFont typeface="Wingdings" panose="05000000000000000000" pitchFamily="2" charset="2"/>
                <a:buChar char="q"/>
              </a:pPr>
              <a:r>
                <a:rPr lang="en-US" sz="1600" dirty="0">
                  <a:solidFill>
                    <a:srgbClr val="002060"/>
                  </a:solidFill>
                </a:rPr>
                <a:t>Early economics depend on trust-driven, frequent users</a:t>
              </a:r>
            </a:p>
            <a:p>
              <a:pPr marL="342900" indent="-342900" algn="l">
                <a:buFont typeface="Wingdings" panose="05000000000000000000" pitchFamily="2" charset="2"/>
                <a:buChar char="q"/>
              </a:pPr>
              <a:endParaRPr lang="en-IN" sz="1600" dirty="0">
                <a:solidFill>
                  <a:srgbClr val="002060"/>
                </a:solidFill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B621577-BE52-04DA-2691-CDF5A7B26F3E}"/>
              </a:ext>
            </a:extLst>
          </p:cNvPr>
          <p:cNvGrpSpPr/>
          <p:nvPr/>
        </p:nvGrpSpPr>
        <p:grpSpPr>
          <a:xfrm>
            <a:off x="6490108" y="2499684"/>
            <a:ext cx="5301786" cy="1915800"/>
            <a:chOff x="6461624" y="2772455"/>
            <a:chExt cx="5604485" cy="2131285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28F294BA-340D-39FB-1893-D5FBC3B1AA4F}"/>
                </a:ext>
              </a:extLst>
            </p:cNvPr>
            <p:cNvSpPr/>
            <p:nvPr/>
          </p:nvSpPr>
          <p:spPr>
            <a:xfrm>
              <a:off x="6461624" y="2772455"/>
              <a:ext cx="5604485" cy="375030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solidFill>
                    <a:schemeClr val="bg1"/>
                  </a:solidFill>
                </a:rPr>
                <a:t>PRIMARY RIDE-VOLUME LEVERS</a:t>
              </a:r>
            </a:p>
          </p:txBody>
        </p:sp>
        <p:sp>
          <p:nvSpPr>
            <p:cNvPr id="55" name="Content Placeholder 2">
              <a:extLst>
                <a:ext uri="{FF2B5EF4-FFF2-40B4-BE49-F238E27FC236}">
                  <a16:creationId xmlns:a16="http://schemas.microsoft.com/office/drawing/2014/main" id="{DC29EFEF-658E-3623-EBBA-DA5967C2F2BF}"/>
                </a:ext>
              </a:extLst>
            </p:cNvPr>
            <p:cNvSpPr txBox="1">
              <a:spLocks/>
            </p:cNvSpPr>
            <p:nvPr/>
          </p:nvSpPr>
          <p:spPr>
            <a:xfrm>
              <a:off x="6519094" y="3297322"/>
              <a:ext cx="5547015" cy="160641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 algn="l" fontAlgn="base">
                <a:buFont typeface="Wingdings" panose="05000000000000000000" pitchFamily="2" charset="2"/>
                <a:buChar char="q"/>
              </a:pPr>
              <a:r>
                <a:rPr lang="en-US" sz="1600" dirty="0">
                  <a:solidFill>
                    <a:srgbClr val="002060"/>
                  </a:solidFill>
                </a:rPr>
                <a:t>Late-night and safety-driven trips</a:t>
              </a:r>
            </a:p>
            <a:p>
              <a:pPr marL="285750" indent="-285750" algn="l" fontAlgn="base">
                <a:buFont typeface="Wingdings" panose="05000000000000000000" pitchFamily="2" charset="2"/>
                <a:buChar char="q"/>
              </a:pPr>
              <a:r>
                <a:rPr lang="en-US" sz="1600" dirty="0">
                  <a:solidFill>
                    <a:srgbClr val="002060"/>
                  </a:solidFill>
                </a:rPr>
                <a:t>Employer-sponsored commuting programs</a:t>
              </a:r>
            </a:p>
            <a:p>
              <a:pPr marL="285750" indent="-285750" algn="l" fontAlgn="base">
                <a:buFont typeface="Wingdings" panose="05000000000000000000" pitchFamily="2" charset="2"/>
                <a:buChar char="q"/>
              </a:pPr>
              <a:r>
                <a:rPr lang="en-US" sz="1600" dirty="0">
                  <a:solidFill>
                    <a:srgbClr val="002060"/>
                  </a:solidFill>
                </a:rPr>
                <a:t>Fixed pickup hubs (airports, transit centers, event venues)</a:t>
              </a:r>
            </a:p>
            <a:p>
              <a:pPr marL="285750" indent="-285750" algn="l" fontAlgn="base">
                <a:buFont typeface="Wingdings" panose="05000000000000000000" pitchFamily="2" charset="2"/>
                <a:buChar char="q"/>
              </a:pPr>
              <a:r>
                <a:rPr lang="en-US" sz="1600" dirty="0">
                  <a:solidFill>
                    <a:srgbClr val="002060"/>
                  </a:solidFill>
                </a:rPr>
                <a:t>Opt-in shared rides on predictable routes</a:t>
              </a:r>
              <a:endParaRPr lang="en-IN" sz="1600" dirty="0">
                <a:solidFill>
                  <a:srgbClr val="002060"/>
                </a:solidFill>
              </a:endParaRPr>
            </a:p>
          </p:txBody>
        </p:sp>
      </p:grpSp>
      <p:graphicFrame>
        <p:nvGraphicFramePr>
          <p:cNvPr id="64" name="Table 63">
            <a:extLst>
              <a:ext uri="{FF2B5EF4-FFF2-40B4-BE49-F238E27FC236}">
                <a16:creationId xmlns:a16="http://schemas.microsoft.com/office/drawing/2014/main" id="{0C8255A3-C4D2-F53B-EA68-F366479AE1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8352896"/>
              </p:ext>
            </p:extLst>
          </p:nvPr>
        </p:nvGraphicFramePr>
        <p:xfrm>
          <a:off x="6490107" y="4415484"/>
          <a:ext cx="5301787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6076">
                  <a:extLst>
                    <a:ext uri="{9D8B030D-6E8A-4147-A177-3AD203B41FA5}">
                      <a16:colId xmlns:a16="http://schemas.microsoft.com/office/drawing/2014/main" val="289957536"/>
                    </a:ext>
                  </a:extLst>
                </a:gridCol>
                <a:gridCol w="1822018">
                  <a:extLst>
                    <a:ext uri="{9D8B030D-6E8A-4147-A177-3AD203B41FA5}">
                      <a16:colId xmlns:a16="http://schemas.microsoft.com/office/drawing/2014/main" val="4168222208"/>
                    </a:ext>
                  </a:extLst>
                </a:gridCol>
                <a:gridCol w="1183693">
                  <a:extLst>
                    <a:ext uri="{9D8B030D-6E8A-4147-A177-3AD203B41FA5}">
                      <a16:colId xmlns:a16="http://schemas.microsoft.com/office/drawing/2014/main" val="7591296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Lever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Volume Impact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Risk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68776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b="0" i="0" u="none" strike="noStrike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Late-night focus</a:t>
                      </a:r>
                      <a:endParaRPr lang="en-IN" sz="16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0" i="0" u="none" strike="noStrike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</a:t>
                      </a:r>
                      <a:endParaRPr lang="en-IN" sz="16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0" i="0" u="none" strike="noStrike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Low</a:t>
                      </a:r>
                      <a:endParaRPr lang="en-IN" sz="16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265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b="0" i="0" u="none" strike="noStrike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Employer programs</a:t>
                      </a:r>
                      <a:endParaRPr lang="en-IN" sz="16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0" i="0" u="none" strike="noStrike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Medium</a:t>
                      </a:r>
                      <a:endParaRPr lang="en-IN" sz="16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0" i="0" u="none" strike="noStrike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Low</a:t>
                      </a:r>
                      <a:endParaRPr lang="en-IN" sz="16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1507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b="0" i="0" u="none" strike="noStrike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Fixed hubs</a:t>
                      </a:r>
                      <a:endParaRPr lang="en-IN" sz="16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0" i="0" u="none" strike="noStrike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Medium</a:t>
                      </a:r>
                      <a:endParaRPr lang="en-IN" sz="16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0" i="0" u="none" strike="noStrike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Low</a:t>
                      </a:r>
                      <a:endParaRPr lang="en-IN" sz="16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6949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b="0" i="0" u="none" strike="noStrike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Shared rides</a:t>
                      </a:r>
                      <a:endParaRPr lang="en-IN" sz="16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0" i="0" u="none" strike="noStrike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Medium</a:t>
                      </a:r>
                      <a:endParaRPr lang="en-IN" sz="16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0" i="0" u="none" strike="noStrike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Medium</a:t>
                      </a:r>
                      <a:endParaRPr lang="en-IN" sz="16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899060"/>
                  </a:ext>
                </a:extLst>
              </a:tr>
            </a:tbl>
          </a:graphicData>
        </a:graphic>
      </p:graphicFrame>
      <p:graphicFrame>
        <p:nvGraphicFramePr>
          <p:cNvPr id="80" name="Chart 79">
            <a:extLst>
              <a:ext uri="{FF2B5EF4-FFF2-40B4-BE49-F238E27FC236}">
                <a16:creationId xmlns:a16="http://schemas.microsoft.com/office/drawing/2014/main" id="{3AF8C54C-07C4-E8D4-60F9-04DC4722D0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8209787"/>
              </p:ext>
            </p:extLst>
          </p:nvPr>
        </p:nvGraphicFramePr>
        <p:xfrm>
          <a:off x="224288" y="1339969"/>
          <a:ext cx="6055742" cy="44932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4" name="TextBox 83">
            <a:extLst>
              <a:ext uri="{FF2B5EF4-FFF2-40B4-BE49-F238E27FC236}">
                <a16:creationId xmlns:a16="http://schemas.microsoft.com/office/drawing/2014/main" id="{EA3C2148-30A3-63FA-8D39-2031CC7C9086}"/>
              </a:ext>
            </a:extLst>
          </p:cNvPr>
          <p:cNvSpPr txBox="1"/>
          <p:nvPr/>
        </p:nvSpPr>
        <p:spPr>
          <a:xfrm>
            <a:off x="224288" y="6023694"/>
            <a:ext cx="58717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Sources:</a:t>
            </a:r>
          </a:p>
          <a:p>
            <a:r>
              <a:rPr lang="en-IN" sz="1000" dirty="0">
                <a:hlinkClick r:id="rId3"/>
              </a:rPr>
              <a:t>McKinsey(2026)</a:t>
            </a:r>
            <a:r>
              <a:rPr lang="en-IN" sz="1000" dirty="0">
                <a:hlinkClick r:id="rId4"/>
              </a:rPr>
              <a:t>, McKinsey(2023)</a:t>
            </a:r>
            <a:r>
              <a:rPr lang="en-IN" sz="1000" dirty="0"/>
              <a:t>, </a:t>
            </a:r>
            <a:r>
              <a:rPr lang="en-IN" sz="1000" dirty="0">
                <a:hlinkClick r:id="rId5"/>
              </a:rPr>
              <a:t>Nature HSS(2025)</a:t>
            </a:r>
            <a:r>
              <a:rPr lang="en-IN" sz="1000" dirty="0"/>
              <a:t>, </a:t>
            </a:r>
            <a:r>
              <a:rPr lang="en-IN" sz="1000" dirty="0">
                <a:hlinkClick r:id="rId6"/>
              </a:rPr>
              <a:t>NEWSROOM(2025)</a:t>
            </a:r>
            <a:r>
              <a:rPr lang="en-IN" sz="10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99363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8A9E0C7A-719C-BCE0-1601-03049BEF3CE5}"/>
              </a:ext>
            </a:extLst>
          </p:cNvPr>
          <p:cNvSpPr/>
          <p:nvPr/>
        </p:nvSpPr>
        <p:spPr>
          <a:xfrm>
            <a:off x="0" y="6423804"/>
            <a:ext cx="2034000" cy="375029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52000">
                <a:schemeClr val="accent1">
                  <a:lumMod val="60000"/>
                  <a:lumOff val="40000"/>
                </a:schemeClr>
              </a:gs>
              <a:gs pos="74000">
                <a:srgbClr val="5F80BA"/>
              </a:gs>
              <a:gs pos="54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700" b="1" dirty="0"/>
              <a:t>Executive Summary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F5B0D61-F5B7-D1C8-A6E0-18FB1DF4DDE0}"/>
              </a:ext>
            </a:extLst>
          </p:cNvPr>
          <p:cNvSpPr/>
          <p:nvPr/>
        </p:nvSpPr>
        <p:spPr>
          <a:xfrm>
            <a:off x="2034000" y="6423804"/>
            <a:ext cx="2034000" cy="375029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52000">
                <a:schemeClr val="accent1">
                  <a:lumMod val="60000"/>
                  <a:lumOff val="40000"/>
                </a:schemeClr>
              </a:gs>
              <a:gs pos="74000">
                <a:srgbClr val="5F80BA"/>
              </a:gs>
              <a:gs pos="54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700" b="1" dirty="0"/>
              <a:t>Market Analysis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E6BD2E1-AF2F-3B74-55D5-F6A1476D156C}"/>
              </a:ext>
            </a:extLst>
          </p:cNvPr>
          <p:cNvSpPr/>
          <p:nvPr/>
        </p:nvSpPr>
        <p:spPr>
          <a:xfrm>
            <a:off x="4068000" y="6423804"/>
            <a:ext cx="2034000" cy="375029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52000">
                <a:schemeClr val="accent1">
                  <a:lumMod val="60000"/>
                  <a:lumOff val="40000"/>
                </a:schemeClr>
              </a:gs>
              <a:gs pos="74000">
                <a:srgbClr val="5F80BA"/>
              </a:gs>
              <a:gs pos="54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700" b="1" dirty="0"/>
              <a:t>Customer Analysis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774CAF4-D65C-672B-5F6D-4A50E721B2AE}"/>
              </a:ext>
            </a:extLst>
          </p:cNvPr>
          <p:cNvSpPr/>
          <p:nvPr/>
        </p:nvSpPr>
        <p:spPr>
          <a:xfrm>
            <a:off x="6102000" y="6423804"/>
            <a:ext cx="2127068" cy="37502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700" b="1" dirty="0"/>
              <a:t>Competitive Analysis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28936FB-2C53-466E-5622-1D84518A9191}"/>
              </a:ext>
            </a:extLst>
          </p:cNvPr>
          <p:cNvSpPr/>
          <p:nvPr/>
        </p:nvSpPr>
        <p:spPr>
          <a:xfrm>
            <a:off x="8229068" y="6423804"/>
            <a:ext cx="2127068" cy="375029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52000">
                <a:schemeClr val="accent1">
                  <a:lumMod val="60000"/>
                  <a:lumOff val="40000"/>
                </a:schemeClr>
              </a:gs>
              <a:gs pos="74000">
                <a:srgbClr val="5F80BA"/>
              </a:gs>
              <a:gs pos="54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700" b="1" dirty="0"/>
              <a:t>Company Capabilities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6EF1340-332B-9438-1BCA-3C3BE3D73E76}"/>
              </a:ext>
            </a:extLst>
          </p:cNvPr>
          <p:cNvSpPr/>
          <p:nvPr/>
        </p:nvSpPr>
        <p:spPr>
          <a:xfrm>
            <a:off x="10356136" y="6423804"/>
            <a:ext cx="1847863" cy="375029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52000">
                <a:schemeClr val="accent1">
                  <a:lumMod val="60000"/>
                  <a:lumOff val="40000"/>
                </a:schemeClr>
              </a:gs>
              <a:gs pos="74000">
                <a:srgbClr val="5F80BA"/>
              </a:gs>
              <a:gs pos="54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700" b="1" dirty="0"/>
              <a:t>Next Steps</a:t>
            </a:r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BF6909EF-2773-2220-CC64-442611BE55D0}"/>
              </a:ext>
            </a:extLst>
          </p:cNvPr>
          <p:cNvSpPr txBox="1">
            <a:spLocks/>
          </p:cNvSpPr>
          <p:nvPr/>
        </p:nvSpPr>
        <p:spPr>
          <a:xfrm>
            <a:off x="748633" y="171573"/>
            <a:ext cx="10875036" cy="5175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002060"/>
                </a:solidFill>
                <a:latin typeface="+mn-lt"/>
              </a:rPr>
              <a:t>Leading the Field in Safety and Regulatory Confidence</a:t>
            </a:r>
            <a:endParaRPr lang="en-IN" sz="3200" dirty="0">
              <a:solidFill>
                <a:srgbClr val="002060"/>
              </a:solidFill>
              <a:latin typeface="+mn-lt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07AF472-4C28-1887-813D-D721C10FDEEA}"/>
              </a:ext>
            </a:extLst>
          </p:cNvPr>
          <p:cNvCxnSpPr>
            <a:cxnSpLocks/>
          </p:cNvCxnSpPr>
          <p:nvPr/>
        </p:nvCxnSpPr>
        <p:spPr>
          <a:xfrm>
            <a:off x="849275" y="773531"/>
            <a:ext cx="11298581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55" name="Title 19">
            <a:extLst>
              <a:ext uri="{FF2B5EF4-FFF2-40B4-BE49-F238E27FC236}">
                <a16:creationId xmlns:a16="http://schemas.microsoft.com/office/drawing/2014/main" id="{185EEC40-53B9-EA98-5A84-CDBCB64EE185}"/>
              </a:ext>
            </a:extLst>
          </p:cNvPr>
          <p:cNvSpPr txBox="1">
            <a:spLocks/>
          </p:cNvSpPr>
          <p:nvPr/>
        </p:nvSpPr>
        <p:spPr>
          <a:xfrm>
            <a:off x="748633" y="844193"/>
            <a:ext cx="6110715" cy="42796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i="1" dirty="0">
                <a:solidFill>
                  <a:srgbClr val="00B050"/>
                </a:solidFill>
              </a:rPr>
              <a:t>Competitive Landscape: Robotaxi Peers</a:t>
            </a:r>
            <a:br>
              <a:rPr lang="en-US" sz="2800" dirty="0">
                <a:solidFill>
                  <a:srgbClr val="00B050"/>
                </a:solidFill>
              </a:rPr>
            </a:br>
            <a:endParaRPr lang="en-IN" sz="2800" dirty="0">
              <a:solidFill>
                <a:srgbClr val="00B050"/>
              </a:solidFill>
            </a:endParaRPr>
          </a:p>
        </p:txBody>
      </p:sp>
      <p:graphicFrame>
        <p:nvGraphicFramePr>
          <p:cNvPr id="86" name="Table 85">
            <a:extLst>
              <a:ext uri="{FF2B5EF4-FFF2-40B4-BE49-F238E27FC236}">
                <a16:creationId xmlns:a16="http://schemas.microsoft.com/office/drawing/2014/main" id="{2CE06278-1CFF-1302-1DE2-87F06F6433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8873077"/>
              </p:ext>
            </p:extLst>
          </p:nvPr>
        </p:nvGraphicFramePr>
        <p:xfrm>
          <a:off x="1012167" y="2907956"/>
          <a:ext cx="9947876" cy="118904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34377">
                  <a:extLst>
                    <a:ext uri="{9D8B030D-6E8A-4147-A177-3AD203B41FA5}">
                      <a16:colId xmlns:a16="http://schemas.microsoft.com/office/drawing/2014/main" val="2820362508"/>
                    </a:ext>
                  </a:extLst>
                </a:gridCol>
                <a:gridCol w="2573290">
                  <a:extLst>
                    <a:ext uri="{9D8B030D-6E8A-4147-A177-3AD203B41FA5}">
                      <a16:colId xmlns:a16="http://schemas.microsoft.com/office/drawing/2014/main" val="3302317632"/>
                    </a:ext>
                  </a:extLst>
                </a:gridCol>
                <a:gridCol w="2547866">
                  <a:extLst>
                    <a:ext uri="{9D8B030D-6E8A-4147-A177-3AD203B41FA5}">
                      <a16:colId xmlns:a16="http://schemas.microsoft.com/office/drawing/2014/main" val="3711586872"/>
                    </a:ext>
                  </a:extLst>
                </a:gridCol>
                <a:gridCol w="2492343">
                  <a:extLst>
                    <a:ext uri="{9D8B030D-6E8A-4147-A177-3AD203B41FA5}">
                      <a16:colId xmlns:a16="http://schemas.microsoft.com/office/drawing/2014/main" val="3511533053"/>
                    </a:ext>
                  </a:extLst>
                </a:gridCol>
              </a:tblGrid>
              <a:tr h="3963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Commercial Service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dirty="0">
                          <a:solidFill>
                            <a:srgbClr val="002060"/>
                          </a:solidFill>
                        </a:rPr>
                        <a:t>Active, multi-city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>
                          <a:solidFill>
                            <a:srgbClr val="002060"/>
                          </a:solidFill>
                        </a:rPr>
                        <a:t>Paused / limited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dirty="0">
                          <a:solidFill>
                            <a:srgbClr val="002060"/>
                          </a:solidFill>
                        </a:rPr>
                        <a:t>Pilot-stage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839946"/>
                  </a:ext>
                </a:extLst>
              </a:tr>
              <a:tr h="3963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Safety Record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>
                          <a:solidFill>
                            <a:srgbClr val="002060"/>
                          </a:solidFill>
                        </a:rPr>
                        <a:t>Strong, transparent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>
                          <a:solidFill>
                            <a:srgbClr val="002060"/>
                          </a:solidFill>
                        </a:rPr>
                        <a:t>Incident-driven pause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dirty="0">
                          <a:solidFill>
                            <a:srgbClr val="002060"/>
                          </a:solidFill>
                        </a:rPr>
                        <a:t>Developing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4699398"/>
                  </a:ext>
                </a:extLst>
              </a:tr>
              <a:tr h="3963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Regulatory Trust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dirty="0">
                          <a:solidFill>
                            <a:srgbClr val="002060"/>
                          </a:solidFill>
                        </a:rPr>
                        <a:t>High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dirty="0">
                          <a:solidFill>
                            <a:srgbClr val="002060"/>
                          </a:solidFill>
                        </a:rPr>
                        <a:t>Constrained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dirty="0">
                          <a:solidFill>
                            <a:srgbClr val="002060"/>
                          </a:solidFill>
                        </a:rPr>
                        <a:t>Developing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1681612"/>
                  </a:ext>
                </a:extLst>
              </a:tr>
            </a:tbl>
          </a:graphicData>
        </a:graphic>
      </p:graphicFrame>
      <p:grpSp>
        <p:nvGrpSpPr>
          <p:cNvPr id="92" name="Group 91">
            <a:extLst>
              <a:ext uri="{FF2B5EF4-FFF2-40B4-BE49-F238E27FC236}">
                <a16:creationId xmlns:a16="http://schemas.microsoft.com/office/drawing/2014/main" id="{A4B3B099-8DAF-C97A-985A-5F990F577C4F}"/>
              </a:ext>
            </a:extLst>
          </p:cNvPr>
          <p:cNvGrpSpPr/>
          <p:nvPr/>
        </p:nvGrpSpPr>
        <p:grpSpPr>
          <a:xfrm>
            <a:off x="1591812" y="1440186"/>
            <a:ext cx="8764324" cy="1283096"/>
            <a:chOff x="685292" y="1456822"/>
            <a:chExt cx="9273849" cy="1357936"/>
          </a:xfrm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1E6DD2B7-7B0A-EC0A-E44E-4D5CDCB37023}"/>
                </a:ext>
              </a:extLst>
            </p:cNvPr>
            <p:cNvGrpSpPr/>
            <p:nvPr/>
          </p:nvGrpSpPr>
          <p:grpSpPr>
            <a:xfrm>
              <a:off x="685292" y="1456822"/>
              <a:ext cx="3762025" cy="1267548"/>
              <a:chOff x="-1743501" y="2572932"/>
              <a:chExt cx="5073179" cy="1734208"/>
            </a:xfrm>
            <a:effectLst>
              <a:glow rad="127000">
                <a:schemeClr val="accent5">
                  <a:lumMod val="60000"/>
                  <a:lumOff val="40000"/>
                  <a:alpha val="40000"/>
                </a:schemeClr>
              </a:glow>
              <a:outerShdw blurRad="76200" dist="635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BD210346-DABF-3EC9-7921-350297BFC2CC}"/>
                  </a:ext>
                </a:extLst>
              </p:cNvPr>
              <p:cNvSpPr/>
              <p:nvPr/>
            </p:nvSpPr>
            <p:spPr>
              <a:xfrm>
                <a:off x="1595470" y="2572932"/>
                <a:ext cx="1734208" cy="173420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65" name="Picture 64">
                <a:extLst>
                  <a:ext uri="{FF2B5EF4-FFF2-40B4-BE49-F238E27FC236}">
                    <a16:creationId xmlns:a16="http://schemas.microsoft.com/office/drawing/2014/main" id="{E86AF0F2-8095-EFE5-4C62-677D0F5C00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3"/>
                  </a:ext>
                </a:extLst>
              </a:blip>
              <a:srcRect t="18780" b="19577"/>
              <a:stretch>
                <a:fillRect/>
              </a:stretch>
            </p:blipFill>
            <p:spPr>
              <a:xfrm>
                <a:off x="1753126" y="2998290"/>
                <a:ext cx="1418896" cy="874650"/>
              </a:xfrm>
              <a:prstGeom prst="rect">
                <a:avLst/>
              </a:prstGeom>
            </p:spPr>
          </p:pic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03A5622F-CD40-3DB9-97C2-5B09D154E192}"/>
                  </a:ext>
                </a:extLst>
              </p:cNvPr>
              <p:cNvSpPr/>
              <p:nvPr/>
            </p:nvSpPr>
            <p:spPr>
              <a:xfrm>
                <a:off x="-1743501" y="2572932"/>
                <a:ext cx="1734208" cy="173420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099F2D84-E623-D338-2173-8FFBEEA1096B}"/>
                </a:ext>
              </a:extLst>
            </p:cNvPr>
            <p:cNvGrpSpPr/>
            <p:nvPr/>
          </p:nvGrpSpPr>
          <p:grpSpPr>
            <a:xfrm>
              <a:off x="5816094" y="1510823"/>
              <a:ext cx="1286005" cy="1267548"/>
              <a:chOff x="3817786" y="3256822"/>
              <a:chExt cx="1800000" cy="1800000"/>
            </a:xfrm>
            <a:effectLst>
              <a:glow rad="127000">
                <a:schemeClr val="accent5">
                  <a:lumMod val="60000"/>
                  <a:lumOff val="40000"/>
                  <a:alpha val="40000"/>
                </a:schemeClr>
              </a:glow>
              <a:outerShdw blurRad="76200" dist="635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709824DF-CD48-C28D-03F9-8969DA4530DA}"/>
                  </a:ext>
                </a:extLst>
              </p:cNvPr>
              <p:cNvSpPr/>
              <p:nvPr/>
            </p:nvSpPr>
            <p:spPr>
              <a:xfrm>
                <a:off x="3817786" y="3256822"/>
                <a:ext cx="1800000" cy="18000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pic>
            <p:nvPicPr>
              <p:cNvPr id="79" name="Picture 78">
                <a:extLst>
                  <a:ext uri="{FF2B5EF4-FFF2-40B4-BE49-F238E27FC236}">
                    <a16:creationId xmlns:a16="http://schemas.microsoft.com/office/drawing/2014/main" id="{BF23DF63-3A0F-E389-195E-ACE203EC7A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5"/>
                  </a:ext>
                </a:extLst>
              </a:blip>
              <a:stretch>
                <a:fillRect/>
              </a:stretch>
            </p:blipFill>
            <p:spPr>
              <a:xfrm>
                <a:off x="3904534" y="3859538"/>
                <a:ext cx="1626505" cy="476862"/>
              </a:xfrm>
              <a:prstGeom prst="rect">
                <a:avLst/>
              </a:prstGeom>
            </p:spPr>
          </p:pic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5BA623EC-1A13-1336-A30B-FFC1513525E8}"/>
                </a:ext>
              </a:extLst>
            </p:cNvPr>
            <p:cNvGrpSpPr/>
            <p:nvPr/>
          </p:nvGrpSpPr>
          <p:grpSpPr>
            <a:xfrm>
              <a:off x="8470876" y="1547210"/>
              <a:ext cx="1488265" cy="1267548"/>
              <a:chOff x="6296074" y="2638668"/>
              <a:chExt cx="2083100" cy="1800000"/>
            </a:xfrm>
            <a:effectLst>
              <a:glow rad="127000">
                <a:schemeClr val="accent5">
                  <a:lumMod val="60000"/>
                  <a:lumOff val="40000"/>
                  <a:alpha val="40000"/>
                </a:schemeClr>
              </a:glow>
              <a:outerShdw blurRad="76200" dist="635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268B59BB-5C83-8EDB-CCC3-F14A5D49EF28}"/>
                  </a:ext>
                </a:extLst>
              </p:cNvPr>
              <p:cNvSpPr/>
              <p:nvPr/>
            </p:nvSpPr>
            <p:spPr>
              <a:xfrm>
                <a:off x="6382874" y="2638668"/>
                <a:ext cx="1800000" cy="18000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81" name="Picture 80">
                <a:extLst>
                  <a:ext uri="{FF2B5EF4-FFF2-40B4-BE49-F238E27FC236}">
                    <a16:creationId xmlns:a16="http://schemas.microsoft.com/office/drawing/2014/main" id="{C61C3FAB-4FF2-A70E-6526-E8D11B4658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7"/>
                  </a:ext>
                </a:extLst>
              </a:blip>
              <a:stretch>
                <a:fillRect/>
              </a:stretch>
            </p:blipFill>
            <p:spPr>
              <a:xfrm>
                <a:off x="6296074" y="3137292"/>
                <a:ext cx="2083100" cy="833241"/>
              </a:xfrm>
              <a:prstGeom prst="rect">
                <a:avLst/>
              </a:prstGeom>
            </p:spPr>
          </p:pic>
        </p:grpSp>
        <p:pic>
          <p:nvPicPr>
            <p:cNvPr id="90" name="Graphic 89" descr="Car with solid fill">
              <a:extLst>
                <a:ext uri="{FF2B5EF4-FFF2-40B4-BE49-F238E27FC236}">
                  <a16:creationId xmlns:a16="http://schemas.microsoft.com/office/drawing/2014/main" id="{35F20C5C-DBAA-4988-17D2-5731746DFAB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91131" y="1522671"/>
              <a:ext cx="1129386" cy="1129386"/>
            </a:xfrm>
            <a:prstGeom prst="rect">
              <a:avLst/>
            </a:prstGeom>
          </p:spPr>
        </p:pic>
      </p:grpSp>
      <p:sp>
        <p:nvSpPr>
          <p:cNvPr id="94" name="TextBox 93">
            <a:extLst>
              <a:ext uri="{FF2B5EF4-FFF2-40B4-BE49-F238E27FC236}">
                <a16:creationId xmlns:a16="http://schemas.microsoft.com/office/drawing/2014/main" id="{7AB6DA78-95DB-6A45-2954-B95E1546D8C9}"/>
              </a:ext>
            </a:extLst>
          </p:cNvPr>
          <p:cNvSpPr txBox="1"/>
          <p:nvPr/>
        </p:nvSpPr>
        <p:spPr>
          <a:xfrm>
            <a:off x="649856" y="4567964"/>
            <a:ext cx="11432835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700" dirty="0">
                <a:solidFill>
                  <a:srgbClr val="002060"/>
                </a:solidFill>
              </a:rPr>
              <a:t>Waymo reports </a:t>
            </a:r>
            <a:r>
              <a:rPr lang="en-US" sz="1700" b="1" dirty="0">
                <a:solidFill>
                  <a:srgbClr val="002060"/>
                </a:solidFill>
              </a:rPr>
              <a:t>~85% fewer injury-reported crashes than human drivers</a:t>
            </a:r>
            <a:r>
              <a:rPr lang="en-US" sz="1700" dirty="0">
                <a:solidFill>
                  <a:srgbClr val="002060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700" dirty="0">
                <a:solidFill>
                  <a:srgbClr val="002060"/>
                </a:solidFill>
              </a:rPr>
              <a:t>Most </a:t>
            </a:r>
            <a:r>
              <a:rPr lang="en-US" sz="1700" b="1" dirty="0">
                <a:solidFill>
                  <a:srgbClr val="002060"/>
                </a:solidFill>
              </a:rPr>
              <a:t>mature L4 deployment, </a:t>
            </a:r>
            <a:r>
              <a:rPr lang="en-US" sz="1700" dirty="0">
                <a:solidFill>
                  <a:srgbClr val="002060"/>
                </a:solidFill>
              </a:rPr>
              <a:t>Strongest </a:t>
            </a:r>
            <a:r>
              <a:rPr lang="en-US" sz="1700" b="1" dirty="0">
                <a:solidFill>
                  <a:srgbClr val="002060"/>
                </a:solidFill>
              </a:rPr>
              <a:t>regulatory credibility, </a:t>
            </a:r>
            <a:r>
              <a:rPr lang="en-US" sz="1700" dirty="0">
                <a:solidFill>
                  <a:srgbClr val="002060"/>
                </a:solidFill>
              </a:rPr>
              <a:t>Only player operating at </a:t>
            </a:r>
            <a:r>
              <a:rPr lang="en-US" sz="1700" b="1" dirty="0">
                <a:solidFill>
                  <a:srgbClr val="002060"/>
                </a:solidFill>
              </a:rPr>
              <a:t>real scale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700" dirty="0">
                <a:solidFill>
                  <a:srgbClr val="002060"/>
                </a:solidFill>
              </a:rPr>
              <a:t>The AV landscape is fragmented across distinct markets, with only a few competing directly in urban robotaxi services.</a:t>
            </a:r>
            <a:endParaRPr lang="en-IN" sz="1700" dirty="0">
              <a:solidFill>
                <a:srgbClr val="002060"/>
              </a:solidFill>
            </a:endParaRPr>
          </a:p>
        </p:txBody>
      </p:sp>
      <p:sp>
        <p:nvSpPr>
          <p:cNvPr id="95" name="Title 19">
            <a:extLst>
              <a:ext uri="{FF2B5EF4-FFF2-40B4-BE49-F238E27FC236}">
                <a16:creationId xmlns:a16="http://schemas.microsoft.com/office/drawing/2014/main" id="{9F8E0ACC-3A37-AE3B-5317-E0244D7F44AA}"/>
              </a:ext>
            </a:extLst>
          </p:cNvPr>
          <p:cNvSpPr txBox="1">
            <a:spLocks/>
          </p:cNvSpPr>
          <p:nvPr/>
        </p:nvSpPr>
        <p:spPr>
          <a:xfrm>
            <a:off x="849275" y="4233236"/>
            <a:ext cx="4733026" cy="42796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200" i="1" dirty="0">
                <a:solidFill>
                  <a:srgbClr val="00B050"/>
                </a:solidFill>
              </a:rPr>
              <a:t>Why Waymo Wins?</a:t>
            </a:r>
            <a:br>
              <a:rPr lang="en-US" sz="2200" dirty="0">
                <a:solidFill>
                  <a:srgbClr val="00B050"/>
                </a:solidFill>
              </a:rPr>
            </a:br>
            <a:endParaRPr lang="en-IN" sz="2200" dirty="0">
              <a:solidFill>
                <a:srgbClr val="00B050"/>
              </a:solidFill>
            </a:endParaRPr>
          </a:p>
        </p:txBody>
      </p:sp>
      <p:sp>
        <p:nvSpPr>
          <p:cNvPr id="96" name="Title 19">
            <a:extLst>
              <a:ext uri="{FF2B5EF4-FFF2-40B4-BE49-F238E27FC236}">
                <a16:creationId xmlns:a16="http://schemas.microsoft.com/office/drawing/2014/main" id="{C481765C-20F8-0D65-32D5-FDD52C38CE16}"/>
              </a:ext>
            </a:extLst>
          </p:cNvPr>
          <p:cNvSpPr txBox="1">
            <a:spLocks/>
          </p:cNvSpPr>
          <p:nvPr/>
        </p:nvSpPr>
        <p:spPr>
          <a:xfrm>
            <a:off x="849275" y="5445327"/>
            <a:ext cx="4733026" cy="42796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200" i="1" dirty="0">
                <a:solidFill>
                  <a:srgbClr val="00B050"/>
                </a:solidFill>
              </a:rPr>
              <a:t>What Behavior Is Waymo Replacing?</a:t>
            </a:r>
            <a:br>
              <a:rPr lang="en-US" sz="2200" dirty="0">
                <a:solidFill>
                  <a:srgbClr val="00B050"/>
                </a:solidFill>
              </a:rPr>
            </a:br>
            <a:endParaRPr lang="en-IN" sz="2200" dirty="0">
              <a:solidFill>
                <a:srgbClr val="00B050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45E0F2E-3478-3A66-DED9-E6E2F0158D37}"/>
              </a:ext>
            </a:extLst>
          </p:cNvPr>
          <p:cNvSpPr txBox="1"/>
          <p:nvPr/>
        </p:nvSpPr>
        <p:spPr>
          <a:xfrm>
            <a:off x="601985" y="5779215"/>
            <a:ext cx="1116833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700" dirty="0">
                <a:solidFill>
                  <a:srgbClr val="002060"/>
                </a:solidFill>
              </a:rPr>
              <a:t>Private vehicles still account for </a:t>
            </a:r>
            <a:r>
              <a:rPr lang="en-US" sz="1700" b="1" dirty="0">
                <a:solidFill>
                  <a:srgbClr val="002060"/>
                </a:solidFill>
              </a:rPr>
              <a:t>&gt;70% </a:t>
            </a:r>
            <a:r>
              <a:rPr lang="en-US" sz="1700" dirty="0">
                <a:solidFill>
                  <a:srgbClr val="002060"/>
                </a:solidFill>
              </a:rPr>
              <a:t>of urban trips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6EC8C0C-631C-3DDA-4364-9983A842325E}"/>
              </a:ext>
            </a:extLst>
          </p:cNvPr>
          <p:cNvSpPr txBox="1"/>
          <p:nvPr/>
        </p:nvSpPr>
        <p:spPr>
          <a:xfrm>
            <a:off x="132272" y="6176513"/>
            <a:ext cx="7740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Sources: Case Prompt, </a:t>
            </a:r>
            <a:r>
              <a:rPr lang="en-IN" sz="1000" dirty="0">
                <a:hlinkClick r:id="rId10"/>
              </a:rPr>
              <a:t>Reuters AV Industry Coverage</a:t>
            </a:r>
            <a:r>
              <a:rPr lang="en-IN" sz="1000" dirty="0"/>
              <a:t>, </a:t>
            </a:r>
            <a:r>
              <a:rPr lang="en-IN" sz="1000" dirty="0">
                <a:hlinkClick r:id="rId11"/>
              </a:rPr>
              <a:t>California DMV AV Disengagement &amp; Collision Reports </a:t>
            </a:r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1039578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4640F8DA-836F-3B60-C914-3F7738CF9B04}"/>
              </a:ext>
            </a:extLst>
          </p:cNvPr>
          <p:cNvSpPr/>
          <p:nvPr/>
        </p:nvSpPr>
        <p:spPr>
          <a:xfrm>
            <a:off x="0" y="6423804"/>
            <a:ext cx="2034000" cy="375029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52000">
                <a:schemeClr val="accent1">
                  <a:lumMod val="60000"/>
                  <a:lumOff val="40000"/>
                </a:schemeClr>
              </a:gs>
              <a:gs pos="74000">
                <a:srgbClr val="5F80BA"/>
              </a:gs>
              <a:gs pos="54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700" b="1" dirty="0"/>
              <a:t>Executive Summary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490AEFA-C4B3-4508-028A-93D3D32D8B20}"/>
              </a:ext>
            </a:extLst>
          </p:cNvPr>
          <p:cNvSpPr/>
          <p:nvPr/>
        </p:nvSpPr>
        <p:spPr>
          <a:xfrm>
            <a:off x="2034000" y="6423804"/>
            <a:ext cx="2034000" cy="375029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52000">
                <a:schemeClr val="accent1">
                  <a:lumMod val="60000"/>
                  <a:lumOff val="40000"/>
                </a:schemeClr>
              </a:gs>
              <a:gs pos="74000">
                <a:srgbClr val="5F80BA"/>
              </a:gs>
              <a:gs pos="54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700" b="1" dirty="0"/>
              <a:t>Market Analysis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ABB84A5-70EE-511E-380F-D6689FA8B31C}"/>
              </a:ext>
            </a:extLst>
          </p:cNvPr>
          <p:cNvSpPr/>
          <p:nvPr/>
        </p:nvSpPr>
        <p:spPr>
          <a:xfrm>
            <a:off x="4068000" y="6423804"/>
            <a:ext cx="2034000" cy="375029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52000">
                <a:schemeClr val="accent1">
                  <a:lumMod val="60000"/>
                  <a:lumOff val="40000"/>
                </a:schemeClr>
              </a:gs>
              <a:gs pos="74000">
                <a:srgbClr val="5F80BA"/>
              </a:gs>
              <a:gs pos="54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700" b="1" dirty="0"/>
              <a:t>Customer Analysis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F44EA49-722E-6455-8BD8-8B1BDFF3FD17}"/>
              </a:ext>
            </a:extLst>
          </p:cNvPr>
          <p:cNvSpPr/>
          <p:nvPr/>
        </p:nvSpPr>
        <p:spPr>
          <a:xfrm>
            <a:off x="6102000" y="6423804"/>
            <a:ext cx="2127068" cy="375029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52000">
                <a:schemeClr val="accent1">
                  <a:lumMod val="60000"/>
                  <a:lumOff val="40000"/>
                </a:schemeClr>
              </a:gs>
              <a:gs pos="74000">
                <a:srgbClr val="5F80BA"/>
              </a:gs>
              <a:gs pos="54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700" b="1" dirty="0"/>
              <a:t>Competitive Analysis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D86313D-DD39-7E18-616B-B9CEA8EE8A6C}"/>
              </a:ext>
            </a:extLst>
          </p:cNvPr>
          <p:cNvSpPr/>
          <p:nvPr/>
        </p:nvSpPr>
        <p:spPr>
          <a:xfrm>
            <a:off x="8229068" y="6423804"/>
            <a:ext cx="2127068" cy="37502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700" b="1" dirty="0"/>
              <a:t>Company Capabilities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D3C7F92-702D-E5B9-D75F-062EA92B09BE}"/>
              </a:ext>
            </a:extLst>
          </p:cNvPr>
          <p:cNvSpPr/>
          <p:nvPr/>
        </p:nvSpPr>
        <p:spPr>
          <a:xfrm>
            <a:off x="10356136" y="6423804"/>
            <a:ext cx="1847863" cy="375029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52000">
                <a:schemeClr val="accent1">
                  <a:lumMod val="60000"/>
                  <a:lumOff val="40000"/>
                </a:schemeClr>
              </a:gs>
              <a:gs pos="74000">
                <a:srgbClr val="5F80BA"/>
              </a:gs>
              <a:gs pos="54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700" b="1" dirty="0"/>
              <a:t>Next Steps</a:t>
            </a: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A353482D-C85A-B25B-8CE5-4A86A46F1BA9}"/>
              </a:ext>
            </a:extLst>
          </p:cNvPr>
          <p:cNvSpPr txBox="1">
            <a:spLocks/>
          </p:cNvSpPr>
          <p:nvPr/>
        </p:nvSpPr>
        <p:spPr>
          <a:xfrm>
            <a:off x="757260" y="133573"/>
            <a:ext cx="9788740" cy="5209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002060"/>
                </a:solidFill>
                <a:latin typeface="+mn-lt"/>
              </a:rPr>
              <a:t>Operational Levers That Improve Economics</a:t>
            </a:r>
            <a:endParaRPr lang="en-IN" sz="3200" dirty="0">
              <a:solidFill>
                <a:srgbClr val="002060"/>
              </a:solidFill>
              <a:latin typeface="+mn-lt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9450AC4-20D5-5A79-A148-062BD140F59C}"/>
              </a:ext>
            </a:extLst>
          </p:cNvPr>
          <p:cNvCxnSpPr>
            <a:cxnSpLocks/>
          </p:cNvCxnSpPr>
          <p:nvPr/>
        </p:nvCxnSpPr>
        <p:spPr>
          <a:xfrm>
            <a:off x="850953" y="758139"/>
            <a:ext cx="11353046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A8F08FE-D5F6-DAFB-A228-7C9F200984B1}"/>
              </a:ext>
            </a:extLst>
          </p:cNvPr>
          <p:cNvGrpSpPr/>
          <p:nvPr/>
        </p:nvGrpSpPr>
        <p:grpSpPr>
          <a:xfrm>
            <a:off x="6394456" y="892828"/>
            <a:ext cx="5609186" cy="5394074"/>
            <a:chOff x="304207" y="892828"/>
            <a:chExt cx="5609186" cy="539407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FAC26F8-AA14-C3BA-1C2B-1F1A33DDA8C1}"/>
                </a:ext>
              </a:extLst>
            </p:cNvPr>
            <p:cNvGrpSpPr/>
            <p:nvPr/>
          </p:nvGrpSpPr>
          <p:grpSpPr>
            <a:xfrm>
              <a:off x="304207" y="892828"/>
              <a:ext cx="5609186" cy="1351139"/>
              <a:chOff x="6461624" y="2772455"/>
              <a:chExt cx="5604485" cy="150311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27BA6DC-F425-87B2-FF2B-594CA6E44C42}"/>
                  </a:ext>
                </a:extLst>
              </p:cNvPr>
              <p:cNvSpPr/>
              <p:nvPr/>
            </p:nvSpPr>
            <p:spPr>
              <a:xfrm>
                <a:off x="6461624" y="2772455"/>
                <a:ext cx="5604485" cy="375030"/>
              </a:xfrm>
              <a:prstGeom prst="rect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Focused ODD Expansion</a:t>
                </a:r>
              </a:p>
            </p:txBody>
          </p:sp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DA282AF5-74A6-5F93-B205-81A34768114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19094" y="3170255"/>
                <a:ext cx="5547015" cy="110531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 algn="l" fontAlgn="base">
                  <a:buFont typeface="Wingdings" panose="05000000000000000000" pitchFamily="2" charset="2"/>
                  <a:buChar char="q"/>
                </a:pPr>
                <a:r>
                  <a:rPr lang="en-US" sz="1600" dirty="0">
                    <a:solidFill>
                      <a:srgbClr val="002060"/>
                    </a:solidFill>
                  </a:rPr>
                  <a:t>Airport corridors and high-yield urban routes </a:t>
                </a:r>
              </a:p>
              <a:p>
                <a:pPr marL="285750" indent="-285750" algn="l" fontAlgn="base">
                  <a:buFont typeface="Wingdings" panose="05000000000000000000" pitchFamily="2" charset="2"/>
                  <a:buChar char="q"/>
                </a:pPr>
                <a:r>
                  <a:rPr lang="en-US" sz="1600" dirty="0">
                    <a:solidFill>
                      <a:srgbClr val="002060"/>
                    </a:solidFill>
                  </a:rPr>
                  <a:t>Incremental weather tolerance where economics justify complexity</a:t>
                </a: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D87393E-3FC5-B791-E6B7-BC0E2C15C222}"/>
                </a:ext>
              </a:extLst>
            </p:cNvPr>
            <p:cNvGrpSpPr/>
            <p:nvPr/>
          </p:nvGrpSpPr>
          <p:grpSpPr>
            <a:xfrm>
              <a:off x="304207" y="4909351"/>
              <a:ext cx="5609186" cy="1377551"/>
              <a:chOff x="6461624" y="2772455"/>
              <a:chExt cx="5604485" cy="1532495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34E1A30-B93F-439A-516A-000079C6940F}"/>
                  </a:ext>
                </a:extLst>
              </p:cNvPr>
              <p:cNvSpPr/>
              <p:nvPr/>
            </p:nvSpPr>
            <p:spPr>
              <a:xfrm>
                <a:off x="6461624" y="2772455"/>
                <a:ext cx="5604485" cy="375030"/>
              </a:xfrm>
              <a:prstGeom prst="rect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Downtime Compression</a:t>
                </a:r>
              </a:p>
            </p:txBody>
          </p:sp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29BA38C3-A4B1-C4CB-58E9-ED638AB9DD1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19094" y="3166911"/>
                <a:ext cx="5547015" cy="113803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 algn="l" fontAlgn="base">
                  <a:buFont typeface="Wingdings" panose="05000000000000000000" pitchFamily="2" charset="2"/>
                  <a:buChar char="q"/>
                </a:pPr>
                <a:r>
                  <a:rPr lang="en-US" sz="1600" dirty="0">
                    <a:solidFill>
                      <a:srgbClr val="002060"/>
                    </a:solidFill>
                  </a:rPr>
                  <a:t>Micro-charging hubs near demand clusters </a:t>
                </a:r>
              </a:p>
              <a:p>
                <a:pPr marL="285750" indent="-285750" algn="l" fontAlgn="base">
                  <a:buFont typeface="Wingdings" panose="05000000000000000000" pitchFamily="2" charset="2"/>
                  <a:buChar char="q"/>
                </a:pPr>
                <a:r>
                  <a:rPr lang="en-US" sz="1600" dirty="0">
                    <a:solidFill>
                      <a:srgbClr val="002060"/>
                    </a:solidFill>
                  </a:rPr>
                  <a:t>Predictive vehicle rebalancing</a:t>
                </a:r>
              </a:p>
              <a:p>
                <a:pPr marL="285750" indent="-285750" algn="l" fontAlgn="base">
                  <a:buFont typeface="Wingdings" panose="05000000000000000000" pitchFamily="2" charset="2"/>
                  <a:buChar char="q"/>
                </a:pPr>
                <a:r>
                  <a:rPr lang="en-US" sz="1600" dirty="0">
                    <a:solidFill>
                      <a:srgbClr val="002060"/>
                    </a:solidFill>
                  </a:rPr>
                  <a:t>Rapid-turn cleaning and maintenance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B7834B8-9C53-D0D8-B740-91520F4FC7F9}"/>
                </a:ext>
              </a:extLst>
            </p:cNvPr>
            <p:cNvGrpSpPr/>
            <p:nvPr/>
          </p:nvGrpSpPr>
          <p:grpSpPr>
            <a:xfrm>
              <a:off x="304207" y="3491007"/>
              <a:ext cx="5609186" cy="1504345"/>
              <a:chOff x="6461624" y="2772455"/>
              <a:chExt cx="5604485" cy="167355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89EA8DA-B009-A48B-E551-053C655020B7}"/>
                  </a:ext>
                </a:extLst>
              </p:cNvPr>
              <p:cNvSpPr/>
              <p:nvPr/>
            </p:nvSpPr>
            <p:spPr>
              <a:xfrm>
                <a:off x="6461624" y="2772455"/>
                <a:ext cx="5604485" cy="375030"/>
              </a:xfrm>
              <a:prstGeom prst="rect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Pricing Competitiveness via Unit Economics</a:t>
                </a:r>
              </a:p>
            </p:txBody>
          </p:sp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F51DAC5E-BDE9-EA07-7338-1FD8ACC35BE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19094" y="3147485"/>
                <a:ext cx="5547015" cy="129852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 algn="l" fontAlgn="base">
                  <a:buFont typeface="Wingdings" panose="05000000000000000000" pitchFamily="2" charset="2"/>
                  <a:buChar char="q"/>
                </a:pPr>
                <a:r>
                  <a:rPr lang="en-US" sz="1600" dirty="0">
                    <a:solidFill>
                      <a:srgbClr val="002060"/>
                    </a:solidFill>
                  </a:rPr>
                  <a:t>Utilization-led cost reduction (target 18–20 rides/vehicle/day)</a:t>
                </a:r>
              </a:p>
              <a:p>
                <a:pPr marL="285750" indent="-285750" algn="l" fontAlgn="base">
                  <a:buFont typeface="Wingdings" panose="05000000000000000000" pitchFamily="2" charset="2"/>
                  <a:buChar char="q"/>
                </a:pPr>
                <a:r>
                  <a:rPr lang="en-US" sz="1600" dirty="0">
                    <a:solidFill>
                      <a:srgbClr val="002060"/>
                    </a:solidFill>
                  </a:rPr>
                  <a:t>Concentration on high-frequency riders and peak windows</a:t>
                </a:r>
              </a:p>
              <a:p>
                <a:pPr marL="285750" indent="-285750" algn="l" fontAlgn="base">
                  <a:buFont typeface="Wingdings" panose="05000000000000000000" pitchFamily="2" charset="2"/>
                  <a:buChar char="q"/>
                </a:pPr>
                <a:r>
                  <a:rPr lang="en-US" sz="1600" dirty="0">
                    <a:solidFill>
                      <a:srgbClr val="002060"/>
                    </a:solidFill>
                  </a:rPr>
                  <a:t>Route and dispatch optimization to maximize revenue miles</a:t>
                </a:r>
                <a:endParaRPr lang="en-IN" sz="1600" dirty="0">
                  <a:solidFill>
                    <a:srgbClr val="002060"/>
                  </a:solidFill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D5B57AB1-8830-82E2-9140-77F9445EE397}"/>
                </a:ext>
              </a:extLst>
            </p:cNvPr>
            <p:cNvGrpSpPr/>
            <p:nvPr/>
          </p:nvGrpSpPr>
          <p:grpSpPr>
            <a:xfrm>
              <a:off x="304207" y="2179338"/>
              <a:ext cx="5609186" cy="1286639"/>
              <a:chOff x="6461624" y="2772455"/>
              <a:chExt cx="5604485" cy="1431357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D2DFA55-1FB5-B4AB-968B-E75D6E845D55}"/>
                  </a:ext>
                </a:extLst>
              </p:cNvPr>
              <p:cNvSpPr/>
              <p:nvPr/>
            </p:nvSpPr>
            <p:spPr>
              <a:xfrm>
                <a:off x="6461624" y="2772455"/>
                <a:ext cx="5604485" cy="375030"/>
              </a:xfrm>
              <a:prstGeom prst="rect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Selective Partnerships for Demand Ramp</a:t>
                </a:r>
              </a:p>
            </p:txBody>
          </p:sp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4B27B190-1EEE-DFFC-4201-F7DE77D17FD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19094" y="3175363"/>
                <a:ext cx="5547015" cy="102844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 algn="l" fontAlgn="base">
                  <a:buFont typeface="Wingdings" panose="05000000000000000000" pitchFamily="2" charset="2"/>
                  <a:buChar char="q"/>
                </a:pPr>
                <a:r>
                  <a:rPr lang="en-US" sz="1600" dirty="0"/>
                  <a:t>Partner-led distribution limited to early market entry</a:t>
                </a:r>
                <a:r>
                  <a:rPr lang="en-US" sz="1600" dirty="0">
                    <a:solidFill>
                      <a:srgbClr val="002060"/>
                    </a:solidFill>
                  </a:rPr>
                  <a:t> (6–12 months)</a:t>
                </a:r>
              </a:p>
              <a:p>
                <a:pPr marL="285750" indent="-285750" algn="l" fontAlgn="base">
                  <a:buFont typeface="Wingdings" panose="05000000000000000000" pitchFamily="2" charset="2"/>
                  <a:buChar char="q"/>
                </a:pPr>
                <a:r>
                  <a:rPr lang="en-IN" sz="1600" dirty="0"/>
                  <a:t>Utilization-based exit thresholds</a:t>
                </a:r>
                <a:endParaRPr lang="en-US" sz="1600" dirty="0">
                  <a:solidFill>
                    <a:srgbClr val="002060"/>
                  </a:solidFill>
                </a:endParaRPr>
              </a:p>
            </p:txBody>
          </p:sp>
        </p:grp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A554A455-376E-2084-5762-0D114B92B50D}"/>
              </a:ext>
            </a:extLst>
          </p:cNvPr>
          <p:cNvSpPr txBox="1"/>
          <p:nvPr/>
        </p:nvSpPr>
        <p:spPr>
          <a:xfrm>
            <a:off x="258794" y="4961419"/>
            <a:ext cx="5837206" cy="10772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rgbClr val="002060"/>
                </a:solidFill>
              </a:rPr>
              <a:t>Direct technological advancement toward expanding revenue hours and reducing cost per mile.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rgbClr val="002060"/>
                </a:solidFill>
              </a:rPr>
              <a:t>Revenue miles must scale faster than fleet size to maintain margin headroom and competitive pricing.</a:t>
            </a:r>
            <a:endParaRPr lang="en-IN" sz="1600" b="1" dirty="0">
              <a:solidFill>
                <a:srgbClr val="002060"/>
              </a:solidFill>
            </a:endParaRP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ACCE8650-FDCC-6B06-5581-F2821B30B772}"/>
              </a:ext>
            </a:extLst>
          </p:cNvPr>
          <p:cNvGrpSpPr/>
          <p:nvPr/>
        </p:nvGrpSpPr>
        <p:grpSpPr>
          <a:xfrm>
            <a:off x="-202130" y="1229940"/>
            <a:ext cx="4270130" cy="3248511"/>
            <a:chOff x="188358" y="1039708"/>
            <a:chExt cx="4572828" cy="3425081"/>
          </a:xfrm>
        </p:grpSpPr>
        <p:graphicFrame>
          <p:nvGraphicFramePr>
            <p:cNvPr id="77" name="Diagram 76">
              <a:extLst>
                <a:ext uri="{FF2B5EF4-FFF2-40B4-BE49-F238E27FC236}">
                  <a16:creationId xmlns:a16="http://schemas.microsoft.com/office/drawing/2014/main" id="{7AB2D06D-B81A-FD56-999A-7DC6832988AE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4018001891"/>
                </p:ext>
              </p:extLst>
            </p:nvPr>
          </p:nvGraphicFramePr>
          <p:xfrm>
            <a:off x="188358" y="1039708"/>
            <a:ext cx="4572828" cy="3425081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82" name="Arrow: Up 81">
              <a:extLst>
                <a:ext uri="{FF2B5EF4-FFF2-40B4-BE49-F238E27FC236}">
                  <a16:creationId xmlns:a16="http://schemas.microsoft.com/office/drawing/2014/main" id="{CFFD863D-045F-08D5-351C-2C42EF57CEFA}"/>
                </a:ext>
              </a:extLst>
            </p:cNvPr>
            <p:cNvSpPr/>
            <p:nvPr/>
          </p:nvSpPr>
          <p:spPr>
            <a:xfrm>
              <a:off x="2034000" y="1793951"/>
              <a:ext cx="113511" cy="227024"/>
            </a:xfrm>
            <a:prstGeom prst="upArrow">
              <a:avLst/>
            </a:prstGeom>
            <a:gradFill>
              <a:gsLst>
                <a:gs pos="0">
                  <a:schemeClr val="accent5">
                    <a:lumMod val="60000"/>
                    <a:lumOff val="40000"/>
                  </a:schemeClr>
                </a:gs>
                <a:gs pos="50000">
                  <a:schemeClr val="accent5"/>
                </a:gs>
                <a:gs pos="100000">
                  <a:schemeClr val="accent5">
                    <a:lumMod val="75000"/>
                  </a:schemeClr>
                </a:gs>
              </a:gsLst>
              <a:lin ang="5400000" scaled="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3" name="Arrow: Up 82">
              <a:extLst>
                <a:ext uri="{FF2B5EF4-FFF2-40B4-BE49-F238E27FC236}">
                  <a16:creationId xmlns:a16="http://schemas.microsoft.com/office/drawing/2014/main" id="{D66EE572-5B4A-6D46-8312-7A654E744333}"/>
                </a:ext>
              </a:extLst>
            </p:cNvPr>
            <p:cNvSpPr/>
            <p:nvPr/>
          </p:nvSpPr>
          <p:spPr>
            <a:xfrm rot="10800000">
              <a:off x="3120641" y="3714607"/>
              <a:ext cx="113511" cy="227024"/>
            </a:xfrm>
            <a:prstGeom prst="upArrow">
              <a:avLst/>
            </a:prstGeom>
            <a:gradFill>
              <a:gsLst>
                <a:gs pos="0">
                  <a:schemeClr val="accent5">
                    <a:lumMod val="60000"/>
                    <a:lumOff val="40000"/>
                  </a:schemeClr>
                </a:gs>
                <a:gs pos="50000">
                  <a:schemeClr val="accent5"/>
                </a:gs>
                <a:gs pos="100000">
                  <a:schemeClr val="accent5">
                    <a:lumMod val="75000"/>
                  </a:schemeClr>
                </a:gs>
              </a:gsLst>
              <a:lin ang="5400000" scaled="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4" name="Arrow: Up 83">
              <a:extLst>
                <a:ext uri="{FF2B5EF4-FFF2-40B4-BE49-F238E27FC236}">
                  <a16:creationId xmlns:a16="http://schemas.microsoft.com/office/drawing/2014/main" id="{0B883A8A-9AED-C825-702D-E34FAD6275DC}"/>
                </a:ext>
              </a:extLst>
            </p:cNvPr>
            <p:cNvSpPr/>
            <p:nvPr/>
          </p:nvSpPr>
          <p:spPr>
            <a:xfrm rot="10800000">
              <a:off x="3838299" y="1895103"/>
              <a:ext cx="113511" cy="227024"/>
            </a:xfrm>
            <a:prstGeom prst="upArrow">
              <a:avLst/>
            </a:prstGeom>
            <a:gradFill>
              <a:gsLst>
                <a:gs pos="0">
                  <a:schemeClr val="accent5">
                    <a:lumMod val="60000"/>
                    <a:lumOff val="40000"/>
                  </a:schemeClr>
                </a:gs>
                <a:gs pos="50000">
                  <a:schemeClr val="accent5"/>
                </a:gs>
                <a:gs pos="100000">
                  <a:schemeClr val="accent5">
                    <a:lumMod val="75000"/>
                  </a:schemeClr>
                </a:gs>
              </a:gsLst>
              <a:lin ang="5400000" scaled="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4F0ADBAA-4300-D331-A1E9-F88004234925}"/>
              </a:ext>
            </a:extLst>
          </p:cNvPr>
          <p:cNvGrpSpPr/>
          <p:nvPr/>
        </p:nvGrpSpPr>
        <p:grpSpPr>
          <a:xfrm>
            <a:off x="3774866" y="1077589"/>
            <a:ext cx="2232397" cy="3557471"/>
            <a:chOff x="3814875" y="1317335"/>
            <a:chExt cx="2232397" cy="2935417"/>
          </a:xfrm>
        </p:grpSpPr>
        <p:sp>
          <p:nvSpPr>
            <p:cNvPr id="86" name="Arrow: Down 85">
              <a:extLst>
                <a:ext uri="{FF2B5EF4-FFF2-40B4-BE49-F238E27FC236}">
                  <a16:creationId xmlns:a16="http://schemas.microsoft.com/office/drawing/2014/main" id="{69DE5AF2-27E8-F92B-139D-6FEB7ED2507F}"/>
                </a:ext>
              </a:extLst>
            </p:cNvPr>
            <p:cNvSpPr/>
            <p:nvPr/>
          </p:nvSpPr>
          <p:spPr>
            <a:xfrm>
              <a:off x="4763960" y="1753235"/>
              <a:ext cx="334229" cy="637197"/>
            </a:xfrm>
            <a:prstGeom prst="downArrow">
              <a:avLst/>
            </a:prstGeom>
            <a:gradFill>
              <a:gsLst>
                <a:gs pos="0">
                  <a:schemeClr val="accent5">
                    <a:lumMod val="60000"/>
                    <a:lumOff val="40000"/>
                  </a:schemeClr>
                </a:gs>
                <a:gs pos="50000">
                  <a:schemeClr val="accent5"/>
                </a:gs>
                <a:gs pos="100000">
                  <a:schemeClr val="accent5">
                    <a:lumMod val="75000"/>
                  </a:schemeClr>
                </a:gs>
              </a:gsLst>
              <a:lin ang="5400000" scaled="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7" name="Arrow: Down 86">
              <a:extLst>
                <a:ext uri="{FF2B5EF4-FFF2-40B4-BE49-F238E27FC236}">
                  <a16:creationId xmlns:a16="http://schemas.microsoft.com/office/drawing/2014/main" id="{8B4A2DF9-2151-DC60-A886-1153688B21E4}"/>
                </a:ext>
              </a:extLst>
            </p:cNvPr>
            <p:cNvSpPr/>
            <p:nvPr/>
          </p:nvSpPr>
          <p:spPr>
            <a:xfrm>
              <a:off x="4744694" y="2895454"/>
              <a:ext cx="334229" cy="637197"/>
            </a:xfrm>
            <a:prstGeom prst="downArrow">
              <a:avLst/>
            </a:prstGeom>
            <a:gradFill>
              <a:gsLst>
                <a:gs pos="0">
                  <a:schemeClr val="accent5">
                    <a:lumMod val="60000"/>
                    <a:lumOff val="40000"/>
                  </a:schemeClr>
                </a:gs>
                <a:gs pos="50000">
                  <a:schemeClr val="accent5"/>
                </a:gs>
                <a:gs pos="100000">
                  <a:schemeClr val="accent5">
                    <a:lumMod val="75000"/>
                  </a:schemeClr>
                </a:gs>
              </a:gsLst>
              <a:lin ang="5400000" scaled="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66331112-EE79-EABB-9A8F-FC9EC9145FBE}"/>
                </a:ext>
              </a:extLst>
            </p:cNvPr>
            <p:cNvSpPr txBox="1"/>
            <p:nvPr/>
          </p:nvSpPr>
          <p:spPr>
            <a:xfrm>
              <a:off x="4203086" y="1317335"/>
              <a:ext cx="16900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chemeClr val="accent6"/>
                  </a:solidFill>
                </a:rPr>
                <a:t>CORE URBAN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0900950B-4DEE-3048-E970-2A6D2B97E90A}"/>
                </a:ext>
              </a:extLst>
            </p:cNvPr>
            <p:cNvSpPr txBox="1"/>
            <p:nvPr/>
          </p:nvSpPr>
          <p:spPr>
            <a:xfrm>
              <a:off x="3814875" y="2461878"/>
              <a:ext cx="22323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chemeClr val="accent6"/>
                  </a:solidFill>
                </a:rPr>
                <a:t>AIRPORT CORRIDORS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97EBC940-9675-31B1-1198-717620ABCD78}"/>
                </a:ext>
              </a:extLst>
            </p:cNvPr>
            <p:cNvSpPr txBox="1"/>
            <p:nvPr/>
          </p:nvSpPr>
          <p:spPr>
            <a:xfrm>
              <a:off x="3814875" y="3606421"/>
              <a:ext cx="223239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b="1" dirty="0">
                  <a:solidFill>
                    <a:schemeClr val="accent6"/>
                  </a:solidFill>
                </a:rPr>
                <a:t>ADJACENT NEIGHBOURHOODS</a:t>
              </a:r>
            </a:p>
          </p:txBody>
        </p: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B747CA8A-8D0D-F772-3E48-FCC399B2D2D8}"/>
              </a:ext>
            </a:extLst>
          </p:cNvPr>
          <p:cNvSpPr txBox="1"/>
          <p:nvPr/>
        </p:nvSpPr>
        <p:spPr>
          <a:xfrm>
            <a:off x="126124" y="6184987"/>
            <a:ext cx="5975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Sources: </a:t>
            </a:r>
            <a:r>
              <a:rPr lang="en-IN" sz="1000" dirty="0">
                <a:hlinkClick r:id="rId7"/>
              </a:rPr>
              <a:t>McKinsey(2025)</a:t>
            </a:r>
            <a:r>
              <a:rPr lang="en-IN" sz="1000" dirty="0"/>
              <a:t>, </a:t>
            </a:r>
            <a:r>
              <a:rPr lang="en-IN" sz="1000" dirty="0">
                <a:hlinkClick r:id="rId8"/>
              </a:rPr>
              <a:t>World Economic Forum(2025)</a:t>
            </a:r>
            <a:r>
              <a:rPr lang="en-IN" sz="1000" dirty="0"/>
              <a:t>, </a:t>
            </a:r>
            <a:r>
              <a:rPr lang="en-IN" sz="1000" dirty="0">
                <a:hlinkClick r:id="rId9"/>
              </a:rPr>
              <a:t>Arthur D. Little Autonomous Mobility Journal(2025) </a:t>
            </a:r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2024186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38ACAC0A-C220-29EB-9F30-F3265603EB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936584"/>
            <a:ext cx="12192000" cy="427454"/>
          </a:xfrm>
          <a:gradFill flip="none" rotWithShape="1">
            <a:gsLst>
              <a:gs pos="63000">
                <a:schemeClr val="accent6">
                  <a:lumMod val="60000"/>
                  <a:lumOff val="40000"/>
                </a:schemeClr>
              </a:gs>
              <a:gs pos="0">
                <a:schemeClr val="accent6">
                  <a:lumMod val="40000"/>
                  <a:lumOff val="60000"/>
                </a:schemeClr>
              </a:gs>
              <a:gs pos="100000">
                <a:schemeClr val="accent6"/>
              </a:gs>
            </a:gsLst>
            <a:lin ang="5400000" scaled="1"/>
            <a:tileRect/>
          </a:gradFill>
        </p:spPr>
        <p:txBody>
          <a:bodyPr/>
          <a:lstStyle/>
          <a:p>
            <a:r>
              <a:rPr lang="en-US" sz="2400" dirty="0">
                <a:solidFill>
                  <a:srgbClr val="002060"/>
                </a:solidFill>
                <a:latin typeface="+mn-lt"/>
              </a:rPr>
              <a:t>The roadmap compounds operational leverage before expanding footprint.</a:t>
            </a:r>
            <a:endParaRPr lang="en-IN" sz="2400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4BABC3A-336C-1C04-FB64-6267BBB6C9F9}"/>
              </a:ext>
            </a:extLst>
          </p:cNvPr>
          <p:cNvSpPr/>
          <p:nvPr/>
        </p:nvSpPr>
        <p:spPr>
          <a:xfrm>
            <a:off x="0" y="6423804"/>
            <a:ext cx="2034000" cy="375029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52000">
                <a:schemeClr val="accent1">
                  <a:lumMod val="60000"/>
                  <a:lumOff val="40000"/>
                </a:schemeClr>
              </a:gs>
              <a:gs pos="74000">
                <a:srgbClr val="5F80BA"/>
              </a:gs>
              <a:gs pos="54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700" b="1" dirty="0"/>
              <a:t>Executive Summary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0B61A0D-4737-A0C9-B64E-03025CBD787B}"/>
              </a:ext>
            </a:extLst>
          </p:cNvPr>
          <p:cNvSpPr/>
          <p:nvPr/>
        </p:nvSpPr>
        <p:spPr>
          <a:xfrm>
            <a:off x="2034000" y="6423804"/>
            <a:ext cx="2034000" cy="375029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52000">
                <a:schemeClr val="accent1">
                  <a:lumMod val="60000"/>
                  <a:lumOff val="40000"/>
                </a:schemeClr>
              </a:gs>
              <a:gs pos="74000">
                <a:srgbClr val="5F80BA"/>
              </a:gs>
              <a:gs pos="54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700" b="1" dirty="0"/>
              <a:t>Market Analysis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C510DF6-22A0-3D8A-00D7-FDB15EE2AF53}"/>
              </a:ext>
            </a:extLst>
          </p:cNvPr>
          <p:cNvSpPr/>
          <p:nvPr/>
        </p:nvSpPr>
        <p:spPr>
          <a:xfrm>
            <a:off x="4068000" y="6423804"/>
            <a:ext cx="2034000" cy="375029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52000">
                <a:schemeClr val="accent1">
                  <a:lumMod val="60000"/>
                  <a:lumOff val="40000"/>
                </a:schemeClr>
              </a:gs>
              <a:gs pos="74000">
                <a:srgbClr val="5F80BA"/>
              </a:gs>
              <a:gs pos="54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700" b="1" dirty="0"/>
              <a:t>Customer Analysis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58EE5E6-7152-921B-5C31-0C43A7DA6169}"/>
              </a:ext>
            </a:extLst>
          </p:cNvPr>
          <p:cNvSpPr/>
          <p:nvPr/>
        </p:nvSpPr>
        <p:spPr>
          <a:xfrm>
            <a:off x="6102000" y="6423804"/>
            <a:ext cx="2127068" cy="375029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52000">
                <a:schemeClr val="accent1">
                  <a:lumMod val="60000"/>
                  <a:lumOff val="40000"/>
                </a:schemeClr>
              </a:gs>
              <a:gs pos="74000">
                <a:srgbClr val="5F80BA"/>
              </a:gs>
              <a:gs pos="54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700" b="1" dirty="0"/>
              <a:t>Competitive Analysis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F2B906F-3CCC-A90B-800C-BC93C43D9AA0}"/>
              </a:ext>
            </a:extLst>
          </p:cNvPr>
          <p:cNvSpPr/>
          <p:nvPr/>
        </p:nvSpPr>
        <p:spPr>
          <a:xfrm>
            <a:off x="8229068" y="6423804"/>
            <a:ext cx="2127068" cy="375029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52000">
                <a:schemeClr val="accent1">
                  <a:lumMod val="60000"/>
                  <a:lumOff val="40000"/>
                </a:schemeClr>
              </a:gs>
              <a:gs pos="74000">
                <a:srgbClr val="5F80BA"/>
              </a:gs>
              <a:gs pos="54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700" b="1" dirty="0"/>
              <a:t>Company Capabilities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005292B-389E-B3C5-40D1-48339131F1B1}"/>
              </a:ext>
            </a:extLst>
          </p:cNvPr>
          <p:cNvSpPr/>
          <p:nvPr/>
        </p:nvSpPr>
        <p:spPr>
          <a:xfrm>
            <a:off x="10356136" y="6423804"/>
            <a:ext cx="1847863" cy="37502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700" b="1" dirty="0"/>
              <a:t>Next Steps</a:t>
            </a:r>
          </a:p>
        </p:txBody>
      </p:sp>
      <p:sp>
        <p:nvSpPr>
          <p:cNvPr id="46" name="Title 1">
            <a:extLst>
              <a:ext uri="{FF2B5EF4-FFF2-40B4-BE49-F238E27FC236}">
                <a16:creationId xmlns:a16="http://schemas.microsoft.com/office/drawing/2014/main" id="{48C05ACE-ECF4-35C3-3586-0240CB883C56}"/>
              </a:ext>
            </a:extLst>
          </p:cNvPr>
          <p:cNvSpPr txBox="1">
            <a:spLocks/>
          </p:cNvSpPr>
          <p:nvPr/>
        </p:nvSpPr>
        <p:spPr>
          <a:xfrm>
            <a:off x="713117" y="133573"/>
            <a:ext cx="9788740" cy="5209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002060"/>
                </a:solidFill>
                <a:latin typeface="+mn-lt"/>
              </a:rPr>
              <a:t>The Path Forward: A Repeatable Growth Model</a:t>
            </a:r>
            <a:endParaRPr lang="en-IN" sz="3200" dirty="0">
              <a:solidFill>
                <a:srgbClr val="002060"/>
              </a:solidFill>
              <a:latin typeface="+mn-lt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2257F8D-88C9-BC65-68BE-11C9E0B75AE6}"/>
              </a:ext>
            </a:extLst>
          </p:cNvPr>
          <p:cNvCxnSpPr>
            <a:cxnSpLocks/>
          </p:cNvCxnSpPr>
          <p:nvPr/>
        </p:nvCxnSpPr>
        <p:spPr>
          <a:xfrm>
            <a:off x="850953" y="707689"/>
            <a:ext cx="8028186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" name="Arrow: Right 1">
            <a:extLst>
              <a:ext uri="{FF2B5EF4-FFF2-40B4-BE49-F238E27FC236}">
                <a16:creationId xmlns:a16="http://schemas.microsoft.com/office/drawing/2014/main" id="{541A9AD9-6B59-1781-5D8B-4031B82F03A0}"/>
              </a:ext>
            </a:extLst>
          </p:cNvPr>
          <p:cNvSpPr/>
          <p:nvPr/>
        </p:nvSpPr>
        <p:spPr>
          <a:xfrm>
            <a:off x="252249" y="1300829"/>
            <a:ext cx="11805220" cy="2090079"/>
          </a:xfrm>
          <a:prstGeom prst="rightArrow">
            <a:avLst/>
          </a:prstGeom>
          <a:gradFill flip="none" rotWithShape="1">
            <a:gsLst>
              <a:gs pos="0">
                <a:schemeClr val="accent6">
                  <a:lumMod val="20000"/>
                  <a:lumOff val="80000"/>
                </a:schemeClr>
              </a:gs>
              <a:gs pos="66000">
                <a:schemeClr val="accent6">
                  <a:lumMod val="60000"/>
                  <a:lumOff val="40000"/>
                </a:schemeClr>
              </a:gs>
              <a:gs pos="32000">
                <a:schemeClr val="accent6">
                  <a:lumMod val="40000"/>
                  <a:lumOff val="60000"/>
                </a:schemeClr>
              </a:gs>
              <a:gs pos="100000">
                <a:schemeClr val="accent6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3E71B67-AF9F-BC5E-19AF-9C53C7920A3E}"/>
              </a:ext>
            </a:extLst>
          </p:cNvPr>
          <p:cNvSpPr/>
          <p:nvPr/>
        </p:nvSpPr>
        <p:spPr>
          <a:xfrm>
            <a:off x="661766" y="1828719"/>
            <a:ext cx="3115651" cy="1034298"/>
          </a:xfrm>
          <a:prstGeom prst="roundRect">
            <a:avLst/>
          </a:prstGeom>
          <a:gradFill>
            <a:gsLst>
              <a:gs pos="72000">
                <a:schemeClr val="accent5">
                  <a:lumMod val="75000"/>
                </a:schemeClr>
              </a:gs>
              <a:gs pos="31000">
                <a:schemeClr val="accent5"/>
              </a:gs>
              <a:gs pos="0">
                <a:schemeClr val="accent5">
                  <a:lumMod val="40000"/>
                  <a:lumOff val="60000"/>
                </a:schemeClr>
              </a:gs>
              <a:gs pos="100000">
                <a:srgbClr val="002060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44000" rtlCol="0" anchor="t"/>
          <a:lstStyle/>
          <a:p>
            <a:pPr algn="ctr"/>
            <a:r>
              <a:rPr lang="en-US" b="1" dirty="0"/>
              <a:t>Deepen existing metros to unlock utilization stability</a:t>
            </a:r>
            <a:endParaRPr lang="en-US" dirty="0"/>
          </a:p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6B0B3F6-E174-4FC4-50F6-99D4F57FE0EC}"/>
              </a:ext>
            </a:extLst>
          </p:cNvPr>
          <p:cNvSpPr/>
          <p:nvPr/>
        </p:nvSpPr>
        <p:spPr>
          <a:xfrm>
            <a:off x="4213843" y="1828718"/>
            <a:ext cx="3115651" cy="1034299"/>
          </a:xfrm>
          <a:prstGeom prst="roundRect">
            <a:avLst/>
          </a:prstGeom>
          <a:gradFill>
            <a:gsLst>
              <a:gs pos="72000">
                <a:schemeClr val="accent5">
                  <a:lumMod val="75000"/>
                </a:schemeClr>
              </a:gs>
              <a:gs pos="31000">
                <a:schemeClr val="accent5"/>
              </a:gs>
              <a:gs pos="0">
                <a:schemeClr val="accent5">
                  <a:lumMod val="40000"/>
                  <a:lumOff val="60000"/>
                </a:schemeClr>
              </a:gs>
              <a:gs pos="100000">
                <a:srgbClr val="002060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/>
              <a:t>Selective expansion into AV-friendly metros with proven demand density</a:t>
            </a:r>
            <a:endParaRPr lang="en-US" dirty="0"/>
          </a:p>
          <a:p>
            <a:pPr algn="ctr"/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50A9765-978A-7FB9-94C0-99C5075701A7}"/>
              </a:ext>
            </a:extLst>
          </p:cNvPr>
          <p:cNvSpPr/>
          <p:nvPr/>
        </p:nvSpPr>
        <p:spPr>
          <a:xfrm>
            <a:off x="7765920" y="1828719"/>
            <a:ext cx="3115651" cy="1034298"/>
          </a:xfrm>
          <a:prstGeom prst="roundRect">
            <a:avLst/>
          </a:prstGeom>
          <a:gradFill>
            <a:gsLst>
              <a:gs pos="72000">
                <a:schemeClr val="accent5">
                  <a:lumMod val="75000"/>
                </a:schemeClr>
              </a:gs>
              <a:gs pos="31000">
                <a:schemeClr val="accent5"/>
              </a:gs>
              <a:gs pos="0">
                <a:schemeClr val="accent5">
                  <a:lumMod val="40000"/>
                  <a:lumOff val="60000"/>
                </a:schemeClr>
              </a:gs>
              <a:gs pos="100000">
                <a:srgbClr val="002060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/>
              <a:t>Replicate the proven playbook across 2–3 new metros</a:t>
            </a:r>
            <a:endParaRPr lang="en-US" dirty="0"/>
          </a:p>
          <a:p>
            <a:pPr algn="ctr"/>
            <a:endParaRPr lang="en-IN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70620A7-39E9-6DF3-5800-2D357107C68F}"/>
              </a:ext>
            </a:extLst>
          </p:cNvPr>
          <p:cNvSpPr/>
          <p:nvPr/>
        </p:nvSpPr>
        <p:spPr>
          <a:xfrm>
            <a:off x="1405234" y="984814"/>
            <a:ext cx="1723696" cy="843904"/>
          </a:xfrm>
          <a:prstGeom prst="ellipse">
            <a:avLst/>
          </a:prstGeom>
          <a:gradFill>
            <a:gsLst>
              <a:gs pos="36000">
                <a:schemeClr val="accent5">
                  <a:lumMod val="75000"/>
                </a:schemeClr>
              </a:gs>
              <a:gs pos="4000">
                <a:schemeClr val="accent5"/>
              </a:gs>
              <a:gs pos="0">
                <a:schemeClr val="accent5">
                  <a:lumMod val="40000"/>
                  <a:lumOff val="60000"/>
                </a:schemeClr>
              </a:gs>
              <a:gs pos="71000">
                <a:srgbClr val="002060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/>
              <a:t>Phase 1: Years 1–2</a:t>
            </a:r>
          </a:p>
          <a:p>
            <a:pPr algn="ctr"/>
            <a:endParaRPr lang="en-IN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14ED36-0A34-5157-EF18-AB0AA85DB646}"/>
              </a:ext>
            </a:extLst>
          </p:cNvPr>
          <p:cNvSpPr/>
          <p:nvPr/>
        </p:nvSpPr>
        <p:spPr>
          <a:xfrm>
            <a:off x="4917266" y="984814"/>
            <a:ext cx="1723696" cy="843904"/>
          </a:xfrm>
          <a:prstGeom prst="ellipse">
            <a:avLst/>
          </a:prstGeom>
          <a:gradFill>
            <a:gsLst>
              <a:gs pos="36000">
                <a:schemeClr val="accent5">
                  <a:lumMod val="75000"/>
                </a:schemeClr>
              </a:gs>
              <a:gs pos="4000">
                <a:schemeClr val="accent5"/>
              </a:gs>
              <a:gs pos="0">
                <a:schemeClr val="accent5">
                  <a:lumMod val="40000"/>
                  <a:lumOff val="60000"/>
                </a:schemeClr>
              </a:gs>
              <a:gs pos="71000">
                <a:srgbClr val="002060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/>
              <a:t>Phase 2: Years 2–3</a:t>
            </a:r>
          </a:p>
          <a:p>
            <a:pPr algn="ctr"/>
            <a:endParaRPr lang="en-IN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7CA897D-08F2-F323-A467-74E0BE417F6B}"/>
              </a:ext>
            </a:extLst>
          </p:cNvPr>
          <p:cNvSpPr/>
          <p:nvPr/>
        </p:nvSpPr>
        <p:spPr>
          <a:xfrm>
            <a:off x="8429298" y="984814"/>
            <a:ext cx="1723696" cy="843904"/>
          </a:xfrm>
          <a:prstGeom prst="ellipse">
            <a:avLst/>
          </a:prstGeom>
          <a:gradFill>
            <a:gsLst>
              <a:gs pos="36000">
                <a:schemeClr val="accent5">
                  <a:lumMod val="75000"/>
                </a:schemeClr>
              </a:gs>
              <a:gs pos="4000">
                <a:schemeClr val="accent5"/>
              </a:gs>
              <a:gs pos="0">
                <a:schemeClr val="accent5">
                  <a:lumMod val="40000"/>
                  <a:lumOff val="60000"/>
                </a:schemeClr>
              </a:gs>
              <a:gs pos="71000">
                <a:srgbClr val="002060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/>
              <a:t>Phase 3: Years 3–5</a:t>
            </a:r>
          </a:p>
          <a:p>
            <a:pPr algn="ctr"/>
            <a:endParaRPr lang="en-IN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E4E9FCD-20DF-0FF7-2DEB-A864B8FFFA59}"/>
              </a:ext>
            </a:extLst>
          </p:cNvPr>
          <p:cNvGrpSpPr/>
          <p:nvPr/>
        </p:nvGrpSpPr>
        <p:grpSpPr>
          <a:xfrm>
            <a:off x="661765" y="2922783"/>
            <a:ext cx="10219804" cy="2878290"/>
            <a:chOff x="661765" y="2863015"/>
            <a:chExt cx="10219804" cy="287829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C78B554-7CAE-F731-371C-5292C56C00E2}"/>
                </a:ext>
              </a:extLst>
            </p:cNvPr>
            <p:cNvSpPr txBox="1"/>
            <p:nvPr/>
          </p:nvSpPr>
          <p:spPr>
            <a:xfrm>
              <a:off x="661766" y="2863017"/>
              <a:ext cx="3115651" cy="1576555"/>
            </a:xfrm>
            <a:prstGeom prst="rect">
              <a:avLst/>
            </a:prstGeom>
            <a:gradFill>
              <a:gsLst>
                <a:gs pos="32000">
                  <a:schemeClr val="accent5">
                    <a:lumMod val="20000"/>
                    <a:lumOff val="80000"/>
                  </a:schemeClr>
                </a:gs>
                <a:gs pos="0">
                  <a:schemeClr val="bg1"/>
                </a:gs>
                <a:gs pos="99000">
                  <a:schemeClr val="accent5">
                    <a:lumMod val="60000"/>
                    <a:lumOff val="40000"/>
                  </a:schemeClr>
                </a:gs>
              </a:gsLst>
              <a:lin ang="5400000" scaled="1"/>
            </a:gradFill>
          </p:spPr>
          <p:txBody>
            <a:bodyPr wrap="square" rtlCol="0">
              <a:noAutofit/>
            </a:bodyPr>
            <a:lstStyle/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sz="1600" dirty="0">
                  <a:solidFill>
                    <a:srgbClr val="002060"/>
                  </a:solidFill>
                </a:rPr>
                <a:t>Expand ODD hours and key corridors</a:t>
              </a:r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sz="1600" dirty="0">
                  <a:solidFill>
                    <a:srgbClr val="002060"/>
                  </a:solidFill>
                </a:rPr>
                <a:t>Compress downtime through micro-charging hubs, rapid resets, predictive rebalancing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FFCAE5B-6025-C626-4832-50415F7196BE}"/>
                </a:ext>
              </a:extLst>
            </p:cNvPr>
            <p:cNvSpPr txBox="1"/>
            <p:nvPr/>
          </p:nvSpPr>
          <p:spPr>
            <a:xfrm>
              <a:off x="4213842" y="2863016"/>
              <a:ext cx="3115651" cy="1576555"/>
            </a:xfrm>
            <a:prstGeom prst="rect">
              <a:avLst/>
            </a:prstGeom>
            <a:gradFill>
              <a:gsLst>
                <a:gs pos="32000">
                  <a:schemeClr val="accent5">
                    <a:lumMod val="20000"/>
                    <a:lumOff val="80000"/>
                  </a:schemeClr>
                </a:gs>
                <a:gs pos="0">
                  <a:schemeClr val="bg1"/>
                </a:gs>
                <a:gs pos="99000">
                  <a:schemeClr val="accent5">
                    <a:lumMod val="60000"/>
                    <a:lumOff val="40000"/>
                  </a:schemeClr>
                </a:gs>
              </a:gsLst>
              <a:lin ang="5400000" scaled="1"/>
            </a:gradFill>
          </p:spPr>
          <p:txBody>
            <a:bodyPr wrap="square" rtlCol="0">
              <a:noAutofit/>
            </a:bodyPr>
            <a:lstStyle/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sz="1600" dirty="0">
                  <a:solidFill>
                    <a:srgbClr val="002060"/>
                  </a:solidFill>
                </a:rPr>
                <a:t>Use partners (e.g., Uber) only for months 0–12 to eliminate cold starts</a:t>
              </a:r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sz="1600" dirty="0">
                  <a:solidFill>
                    <a:srgbClr val="002060"/>
                  </a:solidFill>
                </a:rPr>
                <a:t>Transition to Waymo One as utilization stabilizes</a:t>
              </a:r>
            </a:p>
            <a:p>
              <a:pPr marL="285750" indent="-285750">
                <a:buFont typeface="Wingdings" panose="05000000000000000000" pitchFamily="2" charset="2"/>
                <a:buChar char="Ø"/>
              </a:pPr>
              <a:endParaRPr lang="en-IN" sz="1600" dirty="0">
                <a:solidFill>
                  <a:srgbClr val="002060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85001C4-EE3D-AC2E-6586-FEB27BE188A9}"/>
                </a:ext>
              </a:extLst>
            </p:cNvPr>
            <p:cNvSpPr txBox="1"/>
            <p:nvPr/>
          </p:nvSpPr>
          <p:spPr>
            <a:xfrm>
              <a:off x="7765918" y="2863015"/>
              <a:ext cx="3115651" cy="1576555"/>
            </a:xfrm>
            <a:prstGeom prst="rect">
              <a:avLst/>
            </a:prstGeom>
            <a:gradFill>
              <a:gsLst>
                <a:gs pos="32000">
                  <a:schemeClr val="accent5">
                    <a:lumMod val="20000"/>
                    <a:lumOff val="80000"/>
                  </a:schemeClr>
                </a:gs>
                <a:gs pos="0">
                  <a:schemeClr val="bg1"/>
                </a:gs>
                <a:gs pos="99000">
                  <a:schemeClr val="accent5">
                    <a:lumMod val="60000"/>
                    <a:lumOff val="40000"/>
                  </a:schemeClr>
                </a:gs>
              </a:gsLst>
              <a:lin ang="5400000" scaled="1"/>
            </a:gradFill>
          </p:spPr>
          <p:txBody>
            <a:bodyPr wrap="square" rtlCol="0">
              <a:noAutofit/>
            </a:bodyPr>
            <a:lstStyle/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sz="1600" dirty="0">
                  <a:solidFill>
                    <a:srgbClr val="002060"/>
                  </a:solidFill>
                </a:rPr>
                <a:t>Apply templated city launch model (mapping, corridor-first ODD, hub placement)</a:t>
              </a:r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sz="1600" dirty="0">
                  <a:solidFill>
                    <a:srgbClr val="002060"/>
                  </a:solidFill>
                </a:rPr>
                <a:t>Expand price-sensitive trip penetration through improved cost per mile</a:t>
              </a:r>
            </a:p>
            <a:p>
              <a:pPr marL="285750" indent="-285750">
                <a:buFont typeface="Wingdings" panose="05000000000000000000" pitchFamily="2" charset="2"/>
                <a:buChar char="Ø"/>
              </a:pPr>
              <a:endParaRPr lang="en-IN" sz="1600" dirty="0">
                <a:solidFill>
                  <a:srgbClr val="002060"/>
                </a:solidFill>
              </a:endParaRP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16F095D9-0AAC-A97D-801A-FE4A0A9244A2}"/>
                </a:ext>
              </a:extLst>
            </p:cNvPr>
            <p:cNvGrpSpPr/>
            <p:nvPr/>
          </p:nvGrpSpPr>
          <p:grpSpPr>
            <a:xfrm>
              <a:off x="661765" y="4439570"/>
              <a:ext cx="10219802" cy="1301735"/>
              <a:chOff x="661765" y="4406285"/>
              <a:chExt cx="10219802" cy="1301735"/>
            </a:xfrm>
          </p:grpSpPr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5A3FCCA0-A5D5-A1F1-15BC-736A7F8748CB}"/>
                  </a:ext>
                </a:extLst>
              </p:cNvPr>
              <p:cNvSpPr/>
              <p:nvPr/>
            </p:nvSpPr>
            <p:spPr>
              <a:xfrm>
                <a:off x="661765" y="4414017"/>
                <a:ext cx="3115650" cy="321617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b="1" dirty="0">
                    <a:solidFill>
                      <a:srgbClr val="002060"/>
                    </a:solidFill>
                  </a:rPr>
                  <a:t>GATE</a:t>
                </a:r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61C1BA2C-726D-804B-42BE-E667AD689419}"/>
                  </a:ext>
                </a:extLst>
              </p:cNvPr>
              <p:cNvSpPr/>
              <p:nvPr/>
            </p:nvSpPr>
            <p:spPr>
              <a:xfrm>
                <a:off x="4148675" y="4410151"/>
                <a:ext cx="3115650" cy="321617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b="1" dirty="0">
                    <a:solidFill>
                      <a:srgbClr val="002060"/>
                    </a:solidFill>
                  </a:rPr>
                  <a:t>GATE</a:t>
                </a:r>
              </a:p>
            </p:txBody>
          </p:sp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1D62A161-EAFE-1E28-8692-CEE024665A1B}"/>
                  </a:ext>
                </a:extLst>
              </p:cNvPr>
              <p:cNvSpPr/>
              <p:nvPr/>
            </p:nvSpPr>
            <p:spPr>
              <a:xfrm>
                <a:off x="7765917" y="4406285"/>
                <a:ext cx="3115650" cy="321617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b="1" dirty="0">
                    <a:solidFill>
                      <a:srgbClr val="002060"/>
                    </a:solidFill>
                  </a:rPr>
                  <a:t>GATE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70A09AB-4CA0-D75B-3BA4-01D830732E0F}"/>
                  </a:ext>
                </a:extLst>
              </p:cNvPr>
              <p:cNvSpPr txBox="1"/>
              <p:nvPr/>
            </p:nvSpPr>
            <p:spPr>
              <a:xfrm>
                <a:off x="661766" y="4803132"/>
                <a:ext cx="3115651" cy="904888"/>
              </a:xfrm>
              <a:prstGeom prst="rect">
                <a:avLst/>
              </a:prstGeom>
              <a:gradFill>
                <a:gsLst>
                  <a:gs pos="32000">
                    <a:schemeClr val="accent5">
                      <a:lumMod val="20000"/>
                      <a:lumOff val="80000"/>
                    </a:schemeClr>
                  </a:gs>
                  <a:gs pos="0">
                    <a:schemeClr val="bg1"/>
                  </a:gs>
                  <a:gs pos="99000">
                    <a:schemeClr val="accent5">
                      <a:lumMod val="60000"/>
                      <a:lumOff val="40000"/>
                    </a:schemeClr>
                  </a:gs>
                </a:gsLst>
                <a:lin ang="5400000" scaled="1"/>
              </a:gradFill>
            </p:spPr>
            <p:txBody>
              <a:bodyPr wrap="square" rtlCol="0">
                <a:no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1600" dirty="0">
                    <a:solidFill>
                      <a:srgbClr val="002060"/>
                    </a:solidFill>
                  </a:rPr>
                  <a:t>Rides/vehicle/day ≥ 18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1600" dirty="0">
                    <a:solidFill>
                      <a:srgbClr val="002060"/>
                    </a:solidFill>
                  </a:rPr>
                  <a:t>Safety rate at or better than current baseline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US" sz="1600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9927132-9688-7AAF-27DB-C619960CAA9E}"/>
                  </a:ext>
                </a:extLst>
              </p:cNvPr>
              <p:cNvSpPr txBox="1"/>
              <p:nvPr/>
            </p:nvSpPr>
            <p:spPr>
              <a:xfrm>
                <a:off x="4148674" y="4795400"/>
                <a:ext cx="3115651" cy="904888"/>
              </a:xfrm>
              <a:prstGeom prst="rect">
                <a:avLst/>
              </a:prstGeom>
              <a:gradFill>
                <a:gsLst>
                  <a:gs pos="32000">
                    <a:schemeClr val="accent5">
                      <a:lumMod val="20000"/>
                      <a:lumOff val="80000"/>
                    </a:schemeClr>
                  </a:gs>
                  <a:gs pos="0">
                    <a:schemeClr val="bg1"/>
                  </a:gs>
                  <a:gs pos="99000">
                    <a:schemeClr val="accent5">
                      <a:lumMod val="60000"/>
                      <a:lumOff val="40000"/>
                    </a:schemeClr>
                  </a:gs>
                </a:gsLst>
                <a:lin ang="5400000" scaled="1"/>
              </a:gradFill>
            </p:spPr>
            <p:txBody>
              <a:bodyPr wrap="square" rtlCol="0">
                <a:no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1600" dirty="0">
                    <a:solidFill>
                      <a:srgbClr val="002060"/>
                    </a:solidFill>
                  </a:rPr>
                  <a:t>Positive contribution margin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1600" dirty="0">
                    <a:solidFill>
                      <a:srgbClr val="002060"/>
                    </a:solidFill>
                  </a:rPr>
                  <a:t>Regulatory approvals with zero major interventions 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US" sz="1600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E98B5E0-5F3B-3728-8810-6FDB07B45BFF}"/>
                  </a:ext>
                </a:extLst>
              </p:cNvPr>
              <p:cNvSpPr txBox="1"/>
              <p:nvPr/>
            </p:nvSpPr>
            <p:spPr>
              <a:xfrm>
                <a:off x="7765916" y="4795400"/>
                <a:ext cx="3115651" cy="904888"/>
              </a:xfrm>
              <a:prstGeom prst="rect">
                <a:avLst/>
              </a:prstGeom>
              <a:gradFill>
                <a:gsLst>
                  <a:gs pos="32000">
                    <a:schemeClr val="accent5">
                      <a:lumMod val="20000"/>
                      <a:lumOff val="80000"/>
                    </a:schemeClr>
                  </a:gs>
                  <a:gs pos="0">
                    <a:schemeClr val="bg1"/>
                  </a:gs>
                  <a:gs pos="99000">
                    <a:schemeClr val="accent5">
                      <a:lumMod val="60000"/>
                      <a:lumOff val="40000"/>
                    </a:schemeClr>
                  </a:gs>
                </a:gsLst>
                <a:lin ang="5400000" scaled="1"/>
              </a:gradFill>
            </p:spPr>
            <p:txBody>
              <a:bodyPr wrap="square" rtlCol="0">
                <a:no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1600" dirty="0">
                    <a:solidFill>
                      <a:srgbClr val="002060"/>
                    </a:solidFill>
                  </a:rPr>
                  <a:t>Repeatable city-level economics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1600" dirty="0">
                    <a:solidFill>
                      <a:srgbClr val="002060"/>
                    </a:solidFill>
                  </a:rPr>
                  <a:t>ODD readiness validated across local driving patterns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US" sz="1600" dirty="0">
                  <a:solidFill>
                    <a:srgbClr val="00206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36222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 slides content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1731</TotalTime>
  <Words>969</Words>
  <Application>Microsoft Office PowerPoint</Application>
  <PresentationFormat>Widescreen</PresentationFormat>
  <Paragraphs>195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Wingdings</vt:lpstr>
      <vt:lpstr>Office Theme</vt:lpstr>
      <vt:lpstr>6 slides content</vt:lpstr>
      <vt:lpstr>Team No: 67</vt:lpstr>
      <vt:lpstr>EXECUTIVE SUMMARY</vt:lpstr>
      <vt:lpstr>PowerPoint Presentation</vt:lpstr>
      <vt:lpstr>Core Insight: Top ~25% of riders account for ~60% of total rides</vt:lpstr>
      <vt:lpstr>PowerPoint Presentation</vt:lpstr>
      <vt:lpstr>PowerPoint Presentation</vt:lpstr>
      <vt:lpstr>The roadmap compounds operational leverage before expanding footprint.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FARHAT SHAIK</dc:creator>
  <cp:lastModifiedBy>FARHAT SHAIK</cp:lastModifiedBy>
  <cp:revision>8</cp:revision>
  <dcterms:created xsi:type="dcterms:W3CDTF">2026-01-15T15:50:29Z</dcterms:created>
  <dcterms:modified xsi:type="dcterms:W3CDTF">2026-01-17T05:20:03Z</dcterms:modified>
</cp:coreProperties>
</file>